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2"/>
  </p:notesMasterIdLst>
  <p:sldIdLst>
    <p:sldId id="257" r:id="rId2"/>
    <p:sldId id="259" r:id="rId3"/>
    <p:sldId id="267" r:id="rId4"/>
    <p:sldId id="261" r:id="rId5"/>
    <p:sldId id="268" r:id="rId6"/>
    <p:sldId id="269" r:id="rId7"/>
    <p:sldId id="264" r:id="rId8"/>
    <p:sldId id="270" r:id="rId9"/>
    <p:sldId id="271" r:id="rId10"/>
    <p:sldId id="258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2A0"/>
    <a:srgbClr val="69B3E7"/>
    <a:srgbClr val="FF5124"/>
    <a:srgbClr val="D7572B"/>
    <a:srgbClr val="CF45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4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4EF4E9-38F9-476B-9E70-9F823E8BF97F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FAABC-0AA4-4E61-A4E3-0ECF43D0EF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5455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1FAABC-0AA4-4E61-A4E3-0ECF43D0EF9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7196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AC022-C4BD-4DE5-B6C6-2C8CA39FFCFB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815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AC022-C4BD-4DE5-B6C6-2C8CA39FFCFB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8461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AC022-C4BD-4DE5-B6C6-2C8CA39FFCFB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3167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AC022-C4BD-4DE5-B6C6-2C8CA39FFCFB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2638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AC022-C4BD-4DE5-B6C6-2C8CA39FFCFB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7034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AC022-C4BD-4DE5-B6C6-2C8CA39FFCFB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7932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AC022-C4BD-4DE5-B6C6-2C8CA39FFCFB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9366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AC022-C4BD-4DE5-B6C6-2C8CA39FFCFB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1385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AC022-C4BD-4DE5-B6C6-2C8CA39FFCFB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96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AC022-C4BD-4DE5-B6C6-2C8CA39FFCFB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7077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AC022-C4BD-4DE5-B6C6-2C8CA39FFCFB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2872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DAC022-C4BD-4DE5-B6C6-2C8CA39FFCFB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9635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2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3999" y="0"/>
            <a:ext cx="9144000" cy="1800225"/>
          </a:xfrm>
        </p:spPr>
        <p:txBody>
          <a:bodyPr>
            <a:noAutofit/>
          </a:bodyPr>
          <a:lstStyle/>
          <a:p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ФЕДЕРАЛЬНОЕ ГОСУДАРСТВЕННОЕ БЮДЖЕТНОЕ ОБРАЗОВАТЕЛЬНОЕ УЧРЕЖДЕНИЕ ВЫСШЕГО ОБРАЗОВАНИЯ </a:t>
            </a:r>
            <a: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/>
            </a:r>
            <a:b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«САНКТ-ПЕТЕРБУРГСКИЙ ГОСУДАРСТВЕННЫЙ УНИВЕРСИТЕТ </a:t>
            </a:r>
            <a: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/>
            </a:r>
            <a:b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ТЕЛЕКОММУНИКАЦИЙ ИМ. ПРОФ. М.А. БОНЧ-БРУЕВИЧА» </a:t>
            </a:r>
            <a: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/>
            </a:r>
            <a:b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(</a:t>
            </a:r>
            <a:r>
              <a:rPr lang="ru-RU" sz="1400" b="1" dirty="0" err="1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СПбГУТ</a:t>
            </a: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) </a:t>
            </a:r>
            <a: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/>
            </a:r>
            <a:b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/>
            </a:r>
            <a:b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АРХАНГЕЛЬСКИЙ КОЛЛЕДЖ ТЕЛЕКОММУНИКАЦИЙ </a:t>
            </a:r>
            <a: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/>
            </a:r>
            <a:b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ИМ. Б.Л. РОЗИНГА (ФИЛИАЛ) </a:t>
            </a:r>
            <a:r>
              <a:rPr lang="ru-RU" sz="1400" b="1" dirty="0" err="1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СПбГУТ</a:t>
            </a: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/>
            </a:r>
            <a:b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(АКТ (ф) </a:t>
            </a:r>
            <a:r>
              <a:rPr lang="ru-RU" sz="1400" b="1" dirty="0" err="1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СПбГУТ</a:t>
            </a: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) 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38186" y="3188295"/>
            <a:ext cx="6577014" cy="1336080"/>
          </a:xfrm>
        </p:spPr>
        <p:txBody>
          <a:bodyPr>
            <a:noAutofit/>
          </a:bodyPr>
          <a:lstStyle/>
          <a:p>
            <a:pPr algn="l">
              <a:lnSpc>
                <a:spcPct val="114000"/>
              </a:lnSpc>
            </a:pPr>
            <a:r>
              <a:rPr lang="ru-RU" sz="3600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Разработка подсистемы подачи заявок на мероприятия службы занятости</a:t>
            </a: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114300" y="4905871"/>
            <a:ext cx="3838575" cy="64611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600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Студент группы ИСПП-</a:t>
            </a:r>
            <a:r>
              <a:rPr lang="en-US" sz="1600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2</a:t>
            </a:r>
            <a:r>
              <a:rPr lang="ru-RU" sz="1600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1: Поршнев Артём Николаевич</a:t>
            </a:r>
          </a:p>
          <a:p>
            <a:pPr algn="l"/>
            <a:r>
              <a:rPr lang="ru-RU" sz="1600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Руководитель: </a:t>
            </a:r>
            <a:r>
              <a:rPr lang="ru-RU" sz="1600" dirty="0" err="1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Маломан</a:t>
            </a:r>
            <a:r>
              <a:rPr lang="ru-RU" sz="1600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 Юлия Сергеевна</a:t>
            </a:r>
          </a:p>
        </p:txBody>
      </p:sp>
      <p:sp>
        <p:nvSpPr>
          <p:cNvPr id="6" name="Подзаголовок 2"/>
          <p:cNvSpPr txBox="1">
            <a:spLocks/>
          </p:cNvSpPr>
          <p:nvPr/>
        </p:nvSpPr>
        <p:spPr>
          <a:xfrm>
            <a:off x="5283993" y="6469063"/>
            <a:ext cx="1624013" cy="388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Архангельск, 2025</a:t>
            </a:r>
          </a:p>
        </p:txBody>
      </p:sp>
      <p:sp>
        <p:nvSpPr>
          <p:cNvPr id="7" name="Подзаголовок 2"/>
          <p:cNvSpPr txBox="1">
            <a:spLocks/>
          </p:cNvSpPr>
          <p:nvPr/>
        </p:nvSpPr>
        <p:spPr>
          <a:xfrm>
            <a:off x="-1" y="1999060"/>
            <a:ext cx="5314951" cy="10679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66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Курсовой проект </a:t>
            </a:r>
            <a:endParaRPr lang="en-US" sz="6600" b="1" dirty="0">
              <a:solidFill>
                <a:schemeClr val="bg1"/>
              </a:solidFill>
              <a:latin typeface="Bahnschrift Condensed" panose="020B0502040204020203" pitchFamily="34" charset="0"/>
              <a:cs typeface="Arial" panose="020B0604020202020204" pitchFamily="34" charset="0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6451" y="4899658"/>
            <a:ext cx="1486937" cy="1811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38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5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 descr="Изображение выглядит как графическая вставка, белый, мультфильм, силуэ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EFAD6FC-F629-96AE-9B62-02C8DFC889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296" y="2918048"/>
            <a:ext cx="1021904" cy="1021904"/>
          </a:xfrm>
          <a:prstGeom prst="rect">
            <a:avLst/>
          </a:prstGeom>
        </p:spPr>
      </p:pic>
      <p:pic>
        <p:nvPicPr>
          <p:cNvPr id="20" name="Рисунок 19" descr="Изображение выглядит как шестерня, металлоизделия, транспорт, круг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05AC8EC-8870-B332-A974-1A3339AFDE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373" y="4329115"/>
            <a:ext cx="977229" cy="977229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C3C7546-62DB-B932-F09B-B6073EE60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6451" y="4899657"/>
            <a:ext cx="1486937" cy="1811498"/>
          </a:xfrm>
          <a:prstGeom prst="rect">
            <a:avLst/>
          </a:prstGeom>
        </p:spPr>
      </p:pic>
      <p:sp>
        <p:nvSpPr>
          <p:cNvPr id="7" name="Подзаголовок 2"/>
          <p:cNvSpPr txBox="1">
            <a:spLocks/>
          </p:cNvSpPr>
          <p:nvPr/>
        </p:nvSpPr>
        <p:spPr>
          <a:xfrm>
            <a:off x="4071418" y="0"/>
            <a:ext cx="4049161" cy="10679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66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Актуальность</a:t>
            </a:r>
            <a:endParaRPr lang="en-US" sz="6600" b="1" dirty="0">
              <a:solidFill>
                <a:schemeClr val="bg1"/>
              </a:solidFill>
              <a:latin typeface="Bahnschrift Condensed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EA3D82-1ADF-902E-C54A-19EB36D7B20C}"/>
              </a:ext>
            </a:extLst>
          </p:cNvPr>
          <p:cNvSpPr txBox="1"/>
          <p:nvPr/>
        </p:nvSpPr>
        <p:spPr>
          <a:xfrm>
            <a:off x="2104075" y="3105835"/>
            <a:ext cx="69422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i="0" dirty="0">
                <a:solidFill>
                  <a:schemeClr val="bg1"/>
                </a:solidFill>
                <a:effectLst/>
                <a:latin typeface="Bahnschrift Condensed" panose="020B0502040204020203" pitchFamily="34" charset="0"/>
              </a:rPr>
              <a:t>Повышение доступности услуг для граждан</a:t>
            </a:r>
            <a:endParaRPr lang="ru-RU" sz="36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FF77D1-5EAD-C091-C003-6E4347443168}"/>
              </a:ext>
            </a:extLst>
          </p:cNvPr>
          <p:cNvSpPr txBox="1"/>
          <p:nvPr/>
        </p:nvSpPr>
        <p:spPr>
          <a:xfrm>
            <a:off x="3280001" y="4493646"/>
            <a:ext cx="62219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i="0" dirty="0">
                <a:solidFill>
                  <a:schemeClr val="bg1"/>
                </a:solidFill>
                <a:effectLst/>
                <a:latin typeface="Bahnschrift Condensed" panose="020B0502040204020203" pitchFamily="34" charset="0"/>
              </a:rPr>
              <a:t>Оптимизация работы службы занятости</a:t>
            </a:r>
            <a:endParaRPr lang="ru-RU" sz="36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56C2A0-8CBE-4F24-106F-CF0E012C117F}"/>
              </a:ext>
            </a:extLst>
          </p:cNvPr>
          <p:cNvSpPr txBox="1"/>
          <p:nvPr/>
        </p:nvSpPr>
        <p:spPr>
          <a:xfrm>
            <a:off x="1675227" y="1718024"/>
            <a:ext cx="8841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i="0" dirty="0">
                <a:solidFill>
                  <a:schemeClr val="bg1"/>
                </a:solidFill>
                <a:effectLst/>
                <a:latin typeface="Bahnschrift Condensed" panose="020B0502040204020203" pitchFamily="34" charset="0"/>
              </a:rPr>
              <a:t>Интеграция с существующими цифровыми платформами</a:t>
            </a:r>
            <a:endParaRPr lang="ru-RU" sz="36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10" name="Рисунок 9" descr="Изображение выглядит как символ, Цвет электрик, снимок экрана, круг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A6AEF92-521D-7033-9207-B7654233E75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446" y="1657733"/>
            <a:ext cx="766916" cy="76691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7E51A18-DDBD-F708-21E8-73981E3816F8}"/>
              </a:ext>
            </a:extLst>
          </p:cNvPr>
          <p:cNvSpPr txBox="1"/>
          <p:nvPr/>
        </p:nvSpPr>
        <p:spPr>
          <a:xfrm>
            <a:off x="9281685" y="5941714"/>
            <a:ext cx="7865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i="0" dirty="0">
                <a:solidFill>
                  <a:schemeClr val="bg1"/>
                </a:solidFill>
                <a:effectLst/>
                <a:latin typeface="Bahnschrift Condensed" panose="020B0502040204020203" pitchFamily="34" charset="0"/>
              </a:rPr>
              <a:t>2/9</a:t>
            </a:r>
            <a:endParaRPr lang="ru-RU" sz="44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688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9B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2CCE02B-3A24-4FFB-8FAA-F5EEDB944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6451" y="4899658"/>
            <a:ext cx="1486937" cy="1811498"/>
          </a:xfrm>
          <a:prstGeom prst="rect">
            <a:avLst/>
          </a:prstGeom>
        </p:spPr>
      </p:pic>
      <p:sp>
        <p:nvSpPr>
          <p:cNvPr id="4" name="Подзаголовок 2"/>
          <p:cNvSpPr txBox="1">
            <a:spLocks/>
          </p:cNvSpPr>
          <p:nvPr/>
        </p:nvSpPr>
        <p:spPr>
          <a:xfrm>
            <a:off x="3200400" y="0"/>
            <a:ext cx="5791198" cy="10679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6600" b="1" dirty="0">
                <a:solidFill>
                  <a:srgbClr val="0032A0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Целевая аудитория</a:t>
            </a:r>
          </a:p>
        </p:txBody>
      </p:sp>
      <p:pic>
        <p:nvPicPr>
          <p:cNvPr id="7" name="Рисунок 6" descr="Изображение выглядит как зарисовка, графическая встав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5491C60-395A-650F-DF53-57BE67F41B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834" y="2451085"/>
            <a:ext cx="1013642" cy="1013642"/>
          </a:xfrm>
          <a:prstGeom prst="rect">
            <a:avLst/>
          </a:prstGeom>
        </p:spPr>
      </p:pic>
      <p:pic>
        <p:nvPicPr>
          <p:cNvPr id="9" name="Рисунок 8" descr="Изображение выглядит как Графика, снимок экрана, Шрифт, круг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9E03CB0-C374-CAFE-E644-6A5F328A4C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361" y="4885284"/>
            <a:ext cx="920123" cy="920123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B205A82-B861-A390-1E7F-59447E3E2F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362" y="3714944"/>
            <a:ext cx="920123" cy="920123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Шрифт, Графика, символ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02223B8-536C-DBAB-3355-5E902B4F55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362" y="1280745"/>
            <a:ext cx="920123" cy="9201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002081D-7F9D-EFC2-CD29-BB81458948AC}"/>
              </a:ext>
            </a:extLst>
          </p:cNvPr>
          <p:cNvSpPr txBox="1"/>
          <p:nvPr/>
        </p:nvSpPr>
        <p:spPr>
          <a:xfrm>
            <a:off x="2047081" y="2588576"/>
            <a:ext cx="54676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rgbClr val="0032A0"/>
                </a:solidFill>
                <a:latin typeface="Bahnschrift Condensed" panose="020B0502040204020203" pitchFamily="34" charset="0"/>
              </a:rPr>
              <a:t>Сотрудники службы занятости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19CA41-3F28-3058-ADA1-4011ECE108B9}"/>
              </a:ext>
            </a:extLst>
          </p:cNvPr>
          <p:cNvSpPr txBox="1"/>
          <p:nvPr/>
        </p:nvSpPr>
        <p:spPr>
          <a:xfrm>
            <a:off x="2046065" y="5036008"/>
            <a:ext cx="25983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rgbClr val="0032A0"/>
                </a:solidFill>
                <a:latin typeface="Bahnschrift Condensed" panose="020B0502040204020203" pitchFamily="34" charset="0"/>
              </a:rPr>
              <a:t>Работодатели</a:t>
            </a:r>
            <a:endParaRPr lang="ru-RU" sz="3600" dirty="0">
              <a:solidFill>
                <a:srgbClr val="0032A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651B68-2388-7116-C341-22C60DC03DB5}"/>
              </a:ext>
            </a:extLst>
          </p:cNvPr>
          <p:cNvSpPr txBox="1"/>
          <p:nvPr/>
        </p:nvSpPr>
        <p:spPr>
          <a:xfrm>
            <a:off x="2046065" y="3812292"/>
            <a:ext cx="39744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rgbClr val="0032A0"/>
                </a:solidFill>
                <a:latin typeface="Bahnschrift Condensed" panose="020B0502040204020203" pitchFamily="34" charset="0"/>
              </a:rPr>
              <a:t>Студенты и учащиеся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748995-A295-9AA7-1EAD-2EE638F6DCD8}"/>
              </a:ext>
            </a:extLst>
          </p:cNvPr>
          <p:cNvSpPr txBox="1"/>
          <p:nvPr/>
        </p:nvSpPr>
        <p:spPr>
          <a:xfrm>
            <a:off x="2047081" y="1386864"/>
            <a:ext cx="82467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rgbClr val="0032A0"/>
                </a:solidFill>
                <a:latin typeface="Bahnschrift Condensed" panose="020B0502040204020203" pitchFamily="34" charset="0"/>
              </a:rPr>
              <a:t>Люди, находящиеся в активном поиске работы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584D7A-ACBC-76A9-2748-1642BA717768}"/>
              </a:ext>
            </a:extLst>
          </p:cNvPr>
          <p:cNvSpPr txBox="1"/>
          <p:nvPr/>
        </p:nvSpPr>
        <p:spPr>
          <a:xfrm>
            <a:off x="9281685" y="5941714"/>
            <a:ext cx="7865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solidFill>
                  <a:srgbClr val="0032A0"/>
                </a:solidFill>
                <a:latin typeface="Bahnschrift Condensed" panose="020B0502040204020203" pitchFamily="34" charset="0"/>
              </a:rPr>
              <a:t>3</a:t>
            </a:r>
            <a:r>
              <a:rPr lang="ru-RU" sz="4400" b="1" i="0" dirty="0">
                <a:solidFill>
                  <a:srgbClr val="0032A0"/>
                </a:solidFill>
                <a:effectLst/>
                <a:latin typeface="Bahnschrift Condensed" panose="020B0502040204020203" pitchFamily="34" charset="0"/>
              </a:rPr>
              <a:t>/9</a:t>
            </a:r>
            <a:endParaRPr lang="ru-RU" sz="4400" dirty="0">
              <a:solidFill>
                <a:srgbClr val="0032A0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491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5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AF2B1AE-ABEE-ADA5-C4EE-4AD6A7E59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6451" y="4899657"/>
            <a:ext cx="1486937" cy="1811498"/>
          </a:xfrm>
          <a:prstGeom prst="rect">
            <a:avLst/>
          </a:prstGeom>
        </p:spPr>
      </p:pic>
      <p:sp>
        <p:nvSpPr>
          <p:cNvPr id="12" name="Подзаголовок 2"/>
          <p:cNvSpPr txBox="1">
            <a:spLocks/>
          </p:cNvSpPr>
          <p:nvPr/>
        </p:nvSpPr>
        <p:spPr>
          <a:xfrm>
            <a:off x="5724812" y="-1"/>
            <a:ext cx="5791198" cy="10679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66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Цель</a:t>
            </a:r>
            <a:endParaRPr lang="en-US" sz="6600" b="1" dirty="0">
              <a:solidFill>
                <a:schemeClr val="bg1"/>
              </a:solidFill>
              <a:latin typeface="Bahnschrift Condensed" panose="020B0502040204020203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 descr="Изображение выглядит как одежда, человек, Человеческое лицо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81C11F4-F1B5-C05E-D21F-1B4DF284D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5115208" cy="68580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E32447-02E1-EED9-D3C1-BFFF79179888}"/>
              </a:ext>
            </a:extLst>
          </p:cNvPr>
          <p:cNvSpPr txBox="1"/>
          <p:nvPr/>
        </p:nvSpPr>
        <p:spPr>
          <a:xfrm>
            <a:off x="5242879" y="1704773"/>
            <a:ext cx="67550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Требуется разработать веб-сайт для подачи заявок на мероприятия службы занятости.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306D31-55A7-7434-0C92-AB21190D91F4}"/>
              </a:ext>
            </a:extLst>
          </p:cNvPr>
          <p:cNvSpPr txBox="1"/>
          <p:nvPr/>
        </p:nvSpPr>
        <p:spPr>
          <a:xfrm>
            <a:off x="9216428" y="5941714"/>
            <a:ext cx="85177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4</a:t>
            </a:r>
            <a:r>
              <a:rPr lang="ru-RU" sz="4400" b="1" i="0" dirty="0">
                <a:solidFill>
                  <a:schemeClr val="bg1"/>
                </a:solidFill>
                <a:effectLst/>
                <a:latin typeface="Bahnschrift Condensed" panose="020B0502040204020203" pitchFamily="34" charset="0"/>
              </a:rPr>
              <a:t>/9</a:t>
            </a:r>
            <a:endParaRPr lang="ru-RU" sz="44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633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5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0940987-77A2-C250-7BE6-44DAC477B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6451" y="4899657"/>
            <a:ext cx="1486937" cy="1811498"/>
          </a:xfrm>
          <a:prstGeom prst="rect">
            <a:avLst/>
          </a:prstGeom>
        </p:spPr>
      </p:pic>
      <p:sp>
        <p:nvSpPr>
          <p:cNvPr id="12" name="Подзаголовок 2"/>
          <p:cNvSpPr txBox="1">
            <a:spLocks/>
          </p:cNvSpPr>
          <p:nvPr/>
        </p:nvSpPr>
        <p:spPr>
          <a:xfrm>
            <a:off x="3200400" y="0"/>
            <a:ext cx="5791198" cy="10679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66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Задачи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47CDDC-9133-AA3E-FBD2-0C2A48967F00}"/>
              </a:ext>
            </a:extLst>
          </p:cNvPr>
          <p:cNvSpPr txBox="1"/>
          <p:nvPr/>
        </p:nvSpPr>
        <p:spPr>
          <a:xfrm>
            <a:off x="9281685" y="5941714"/>
            <a:ext cx="7865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i="0" dirty="0">
                <a:solidFill>
                  <a:schemeClr val="bg1"/>
                </a:solidFill>
                <a:effectLst/>
                <a:latin typeface="Bahnschrift Condensed" panose="020B0502040204020203" pitchFamily="34" charset="0"/>
              </a:rPr>
              <a:t>5/9</a:t>
            </a:r>
            <a:endParaRPr lang="ru-RU" sz="44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6" name="Рисунок 5" descr="Изображение выглядит как текст, График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F4F02DB-977A-5009-821E-23560F6EA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86" y="1512839"/>
            <a:ext cx="700134" cy="7001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4397DA-48B2-F0BB-5FC5-1BD1100B2489}"/>
              </a:ext>
            </a:extLst>
          </p:cNvPr>
          <p:cNvSpPr txBox="1"/>
          <p:nvPr/>
        </p:nvSpPr>
        <p:spPr>
          <a:xfrm>
            <a:off x="1548871" y="1512839"/>
            <a:ext cx="45471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Сбор и анализ требований</a:t>
            </a:r>
          </a:p>
        </p:txBody>
      </p:sp>
      <p:pic>
        <p:nvPicPr>
          <p:cNvPr id="11" name="Рисунок 10" descr="Изображение выглядит как символ, логотип, Шрифт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9C53B4F-395C-12A8-5805-21F292A45F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020" y="2957088"/>
            <a:ext cx="700132" cy="70013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3183927-51E5-11E5-19AF-95D209876CA3}"/>
              </a:ext>
            </a:extLst>
          </p:cNvPr>
          <p:cNvSpPr txBox="1"/>
          <p:nvPr/>
        </p:nvSpPr>
        <p:spPr>
          <a:xfrm>
            <a:off x="2307418" y="2706990"/>
            <a:ext cx="66841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Проектирование архитектуры приложения и структуры базы данных</a:t>
            </a:r>
          </a:p>
        </p:txBody>
      </p:sp>
      <p:pic>
        <p:nvPicPr>
          <p:cNvPr id="15" name="Рисунок 14" descr="Изображение выглядит как символ, Шрифт, логотип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29D7311-7AF1-A680-EAEB-34B715BE01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152" y="4455139"/>
            <a:ext cx="812698" cy="81269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FBBA03F-B43A-3186-30EC-DFEB6FC46705}"/>
              </a:ext>
            </a:extLst>
          </p:cNvPr>
          <p:cNvSpPr txBox="1"/>
          <p:nvPr/>
        </p:nvSpPr>
        <p:spPr>
          <a:xfrm>
            <a:off x="3062969" y="4299492"/>
            <a:ext cx="48225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Разработка веб-интерфейса и бизнес-логики</a:t>
            </a:r>
          </a:p>
        </p:txBody>
      </p:sp>
    </p:spTree>
    <p:extLst>
      <p:ext uri="{BB962C8B-B14F-4D97-AF65-F5344CB8AC3E}">
        <p14:creationId xmlns:p14="http://schemas.microsoft.com/office/powerpoint/2010/main" val="1889851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9B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451" y="4899658"/>
            <a:ext cx="1486937" cy="1811498"/>
          </a:xfrm>
          <a:prstGeom prst="rect">
            <a:avLst/>
          </a:prstGeom>
        </p:spPr>
      </p:pic>
      <p:sp>
        <p:nvSpPr>
          <p:cNvPr id="12" name="Подзаголовок 2"/>
          <p:cNvSpPr txBox="1">
            <a:spLocks/>
          </p:cNvSpPr>
          <p:nvPr/>
        </p:nvSpPr>
        <p:spPr>
          <a:xfrm>
            <a:off x="2809875" y="0"/>
            <a:ext cx="6572248" cy="10679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6600" b="1" dirty="0">
                <a:solidFill>
                  <a:srgbClr val="0032A0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Средства разработки</a:t>
            </a:r>
            <a:endParaRPr lang="en-US" sz="6600" b="1" dirty="0">
              <a:solidFill>
                <a:srgbClr val="0032A0"/>
              </a:solidFill>
              <a:latin typeface="Bahnschrift Condensed" panose="020B0502040204020203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3134" y="1245968"/>
            <a:ext cx="2630090" cy="263009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544" y="1489075"/>
            <a:ext cx="2220079" cy="2220076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741" y="3851823"/>
            <a:ext cx="1627110" cy="1627107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473" y="3280471"/>
            <a:ext cx="2066927" cy="2198459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087" y="3709151"/>
            <a:ext cx="1490815" cy="14908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8ACB55-2EE8-44E8-BE5C-F3BF3C39D5D3}"/>
              </a:ext>
            </a:extLst>
          </p:cNvPr>
          <p:cNvSpPr txBox="1"/>
          <p:nvPr/>
        </p:nvSpPr>
        <p:spPr>
          <a:xfrm>
            <a:off x="9281685" y="5941714"/>
            <a:ext cx="7865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solidFill>
                  <a:srgbClr val="0032A0"/>
                </a:solidFill>
                <a:latin typeface="Bahnschrift Condensed" panose="020B0502040204020203" pitchFamily="34" charset="0"/>
              </a:rPr>
              <a:t>6</a:t>
            </a:r>
            <a:r>
              <a:rPr lang="ru-RU" sz="4400" b="1" i="0" dirty="0">
                <a:solidFill>
                  <a:srgbClr val="0032A0"/>
                </a:solidFill>
                <a:effectLst/>
                <a:latin typeface="Bahnschrift Condensed" panose="020B0502040204020203" pitchFamily="34" charset="0"/>
              </a:rPr>
              <a:t>/9</a:t>
            </a:r>
            <a:endParaRPr lang="ru-RU" sz="4400" dirty="0">
              <a:solidFill>
                <a:srgbClr val="0032A0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889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5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6451" y="4899657"/>
            <a:ext cx="1486937" cy="1811498"/>
          </a:xfrm>
          <a:prstGeom prst="rect">
            <a:avLst/>
          </a:prstGeom>
        </p:spPr>
      </p:pic>
      <p:sp>
        <p:nvSpPr>
          <p:cNvPr id="9" name="Подзаголовок 2"/>
          <p:cNvSpPr txBox="1">
            <a:spLocks/>
          </p:cNvSpPr>
          <p:nvPr/>
        </p:nvSpPr>
        <p:spPr>
          <a:xfrm>
            <a:off x="2809875" y="0"/>
            <a:ext cx="6572248" cy="10679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66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Архитектура системы</a:t>
            </a:r>
            <a:endParaRPr lang="en-US" sz="6600" b="1" dirty="0">
              <a:solidFill>
                <a:schemeClr val="bg1"/>
              </a:solidFill>
              <a:latin typeface="Bahnschrift Condensed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06280C-2AAF-56B0-C363-13692E08D377}"/>
              </a:ext>
            </a:extLst>
          </p:cNvPr>
          <p:cNvSpPr txBox="1"/>
          <p:nvPr/>
        </p:nvSpPr>
        <p:spPr>
          <a:xfrm>
            <a:off x="9281685" y="5941714"/>
            <a:ext cx="7865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7</a:t>
            </a:r>
            <a:r>
              <a:rPr lang="ru-RU" sz="4400" b="1" i="0" dirty="0">
                <a:solidFill>
                  <a:schemeClr val="bg1"/>
                </a:solidFill>
                <a:effectLst/>
                <a:latin typeface="Bahnschrift Condensed" panose="020B0502040204020203" pitchFamily="34" charset="0"/>
              </a:rPr>
              <a:t>/9</a:t>
            </a:r>
            <a:endParaRPr lang="ru-RU" sz="44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E750BA-90A8-BEE1-AF70-5F27EAD4EFC1}"/>
              </a:ext>
            </a:extLst>
          </p:cNvPr>
          <p:cNvSpPr txBox="1"/>
          <p:nvPr/>
        </p:nvSpPr>
        <p:spPr>
          <a:xfrm>
            <a:off x="2368166" y="1532176"/>
            <a:ext cx="35012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  <a:latin typeface="Bahnschrift Condensed" panose="020B0502040204020203" pitchFamily="34" charset="0"/>
              </a:rPr>
              <a:t>EmploymentService.dll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E750BA-90A8-BEE1-AF70-5F27EAD4EFC1}"/>
              </a:ext>
            </a:extLst>
          </p:cNvPr>
          <p:cNvSpPr txBox="1"/>
          <p:nvPr/>
        </p:nvSpPr>
        <p:spPr>
          <a:xfrm>
            <a:off x="1282104" y="4899657"/>
            <a:ext cx="10860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  <a:latin typeface="Bahnschrift Condensed" panose="020B0502040204020203" pitchFamily="34" charset="0"/>
              </a:rPr>
              <a:t>MySQL</a:t>
            </a:r>
            <a:endParaRPr lang="ru-RU" sz="32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E750BA-90A8-BEE1-AF70-5F27EAD4EFC1}"/>
              </a:ext>
            </a:extLst>
          </p:cNvPr>
          <p:cNvSpPr txBox="1"/>
          <p:nvPr/>
        </p:nvSpPr>
        <p:spPr>
          <a:xfrm>
            <a:off x="6095999" y="4899657"/>
            <a:ext cx="13525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 smtClean="0">
                <a:solidFill>
                  <a:schemeClr val="bg1"/>
                </a:solidFill>
                <a:latin typeface="Bahnschrift Condensed" panose="020B0502040204020203" pitchFamily="34" charset="0"/>
              </a:rPr>
              <a:t>Сервер</a:t>
            </a:r>
            <a:endParaRPr lang="en-US" sz="3200" dirty="0" smtClean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E750BA-90A8-BEE1-AF70-5F27EAD4EFC1}"/>
              </a:ext>
            </a:extLst>
          </p:cNvPr>
          <p:cNvSpPr txBox="1"/>
          <p:nvPr/>
        </p:nvSpPr>
        <p:spPr>
          <a:xfrm>
            <a:off x="8162925" y="1532175"/>
            <a:ext cx="21272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 smtClean="0">
                <a:solidFill>
                  <a:schemeClr val="bg1"/>
                </a:solidFill>
                <a:latin typeface="Bahnschrift Condensed" panose="020B0502040204020203" pitchFamily="34" charset="0"/>
              </a:rPr>
              <a:t>Браузер</a:t>
            </a:r>
            <a:endParaRPr lang="en-US" sz="3200" dirty="0" smtClean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214" y="3609308"/>
            <a:ext cx="1269841" cy="1269841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0405" y="2260519"/>
            <a:ext cx="1116746" cy="1116746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750" y="3680609"/>
            <a:ext cx="1219048" cy="1219048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1627" y="2260519"/>
            <a:ext cx="1269841" cy="1269841"/>
          </a:xfrm>
          <a:prstGeom prst="rect">
            <a:avLst/>
          </a:prstGeom>
        </p:spPr>
      </p:pic>
      <p:cxnSp>
        <p:nvCxnSpPr>
          <p:cNvPr id="14" name="Прямая со стрелкой 13"/>
          <p:cNvCxnSpPr/>
          <p:nvPr/>
        </p:nvCxnSpPr>
        <p:spPr>
          <a:xfrm flipV="1">
            <a:off x="2526806" y="2895439"/>
            <a:ext cx="873695" cy="634921"/>
          </a:xfrm>
          <a:prstGeom prst="straightConnector1">
            <a:avLst/>
          </a:prstGeom>
          <a:ln w="635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 flipH="1">
            <a:off x="2368166" y="2695575"/>
            <a:ext cx="965584" cy="681690"/>
          </a:xfrm>
          <a:prstGeom prst="straightConnector1">
            <a:avLst/>
          </a:prstGeom>
          <a:ln w="635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/>
        </p:nvCxnSpPr>
        <p:spPr>
          <a:xfrm flipV="1">
            <a:off x="7606576" y="2895439"/>
            <a:ext cx="873695" cy="634921"/>
          </a:xfrm>
          <a:prstGeom prst="straightConnector1">
            <a:avLst/>
          </a:prstGeom>
          <a:ln w="635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 flipH="1">
            <a:off x="7447936" y="2695575"/>
            <a:ext cx="965584" cy="681690"/>
          </a:xfrm>
          <a:prstGeom prst="straightConnector1">
            <a:avLst/>
          </a:prstGeom>
          <a:ln w="635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/>
        </p:nvCxnSpPr>
        <p:spPr>
          <a:xfrm flipH="1" flipV="1">
            <a:off x="4903808" y="2695575"/>
            <a:ext cx="1267478" cy="825258"/>
          </a:xfrm>
          <a:prstGeom prst="straightConnector1">
            <a:avLst/>
          </a:prstGeom>
          <a:ln w="635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>
            <a:off x="4855258" y="2895439"/>
            <a:ext cx="1196136" cy="785170"/>
          </a:xfrm>
          <a:prstGeom prst="straightConnector1">
            <a:avLst/>
          </a:prstGeom>
          <a:ln w="635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6824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9B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0F32E89-421D-3783-354A-1F7A82EA0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6451" y="4899658"/>
            <a:ext cx="1486937" cy="1811498"/>
          </a:xfrm>
          <a:prstGeom prst="rect">
            <a:avLst/>
          </a:prstGeom>
        </p:spPr>
      </p:pic>
      <p:sp>
        <p:nvSpPr>
          <p:cNvPr id="9" name="Подзаголовок 2"/>
          <p:cNvSpPr txBox="1">
            <a:spLocks/>
          </p:cNvSpPr>
          <p:nvPr/>
        </p:nvSpPr>
        <p:spPr>
          <a:xfrm>
            <a:off x="1562100" y="0"/>
            <a:ext cx="9067798" cy="10679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6000" b="1" dirty="0">
                <a:solidFill>
                  <a:srgbClr val="0032A0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Преимущества разработанного ПО</a:t>
            </a:r>
            <a:endParaRPr lang="en-US" sz="6000" b="1" dirty="0">
              <a:solidFill>
                <a:srgbClr val="0032A0"/>
              </a:solidFill>
              <a:latin typeface="Bahnschrift Condensed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EE5FF4-6907-7C5E-76E5-4634B49D09E4}"/>
              </a:ext>
            </a:extLst>
          </p:cNvPr>
          <p:cNvSpPr txBox="1"/>
          <p:nvPr/>
        </p:nvSpPr>
        <p:spPr>
          <a:xfrm>
            <a:off x="9281685" y="5941714"/>
            <a:ext cx="7865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solidFill>
                  <a:srgbClr val="0032A0"/>
                </a:solidFill>
                <a:latin typeface="Bahnschrift Condensed" panose="020B0502040204020203" pitchFamily="34" charset="0"/>
              </a:rPr>
              <a:t>8</a:t>
            </a:r>
            <a:r>
              <a:rPr lang="ru-RU" sz="4400" b="1" i="0" dirty="0">
                <a:solidFill>
                  <a:srgbClr val="0032A0"/>
                </a:solidFill>
                <a:effectLst/>
                <a:latin typeface="Bahnschrift Condensed" panose="020B0502040204020203" pitchFamily="34" charset="0"/>
              </a:rPr>
              <a:t>/9</a:t>
            </a:r>
            <a:endParaRPr lang="ru-RU" sz="4400" dirty="0">
              <a:solidFill>
                <a:srgbClr val="0032A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E750BA-90A8-BEE1-AF70-5F27EAD4EFC1}"/>
              </a:ext>
            </a:extLst>
          </p:cNvPr>
          <p:cNvSpPr txBox="1"/>
          <p:nvPr/>
        </p:nvSpPr>
        <p:spPr>
          <a:xfrm>
            <a:off x="2512713" y="1470629"/>
            <a:ext cx="505746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>
                <a:solidFill>
                  <a:srgbClr val="0032A0"/>
                </a:solidFill>
                <a:latin typeface="Bahnschrift Condensed" panose="020B0502040204020203" pitchFamily="34" charset="0"/>
              </a:rPr>
              <a:t>Удобство и доступность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22F660-66E2-C665-A74C-556BC70D47A4}"/>
              </a:ext>
            </a:extLst>
          </p:cNvPr>
          <p:cNvSpPr txBox="1"/>
          <p:nvPr/>
        </p:nvSpPr>
        <p:spPr>
          <a:xfrm>
            <a:off x="2579369" y="2816642"/>
            <a:ext cx="70332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>
                <a:solidFill>
                  <a:srgbClr val="0032A0"/>
                </a:solidFill>
                <a:latin typeface="Bahnschrift Condensed" panose="020B0502040204020203" pitchFamily="34" charset="0"/>
              </a:rPr>
              <a:t>Упрощение процесса подачи заявок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E3C8B9-5E86-F8A0-0640-B463E00538C7}"/>
              </a:ext>
            </a:extLst>
          </p:cNvPr>
          <p:cNvSpPr txBox="1"/>
          <p:nvPr/>
        </p:nvSpPr>
        <p:spPr>
          <a:xfrm>
            <a:off x="2579369" y="4162656"/>
            <a:ext cx="70332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>
                <a:solidFill>
                  <a:srgbClr val="0032A0"/>
                </a:solidFill>
                <a:latin typeface="Bahnschrift Condensed" panose="020B0502040204020203" pitchFamily="34" charset="0"/>
              </a:rPr>
              <a:t>Экономия времени и ресурсов</a:t>
            </a:r>
          </a:p>
        </p:txBody>
      </p:sp>
      <p:pic>
        <p:nvPicPr>
          <p:cNvPr id="10" name="Рисунок 9" descr="Изображение выглядит как Графика, графическая вставка, Красочность,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68066F5-7648-7171-D10E-692809F9C2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031" y="1368152"/>
            <a:ext cx="974394" cy="974394"/>
          </a:xfrm>
          <a:prstGeom prst="rect">
            <a:avLst/>
          </a:prstGeom>
        </p:spPr>
      </p:pic>
      <p:pic>
        <p:nvPicPr>
          <p:cNvPr id="14" name="Рисунок 13" descr="Изображение выглядит как символ, Графика, круг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93D160D-45DE-BBC6-E4BB-C7278BC3AA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030" y="2714167"/>
            <a:ext cx="974394" cy="974392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символ, Графика, круг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699E091-2BAF-6083-35CA-CA45182CF7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031" y="4060181"/>
            <a:ext cx="974393" cy="97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310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9B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E2D2F4E-6AA7-C060-8588-8E54391BD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6451" y="4899658"/>
            <a:ext cx="1486937" cy="1811498"/>
          </a:xfrm>
          <a:prstGeom prst="rect">
            <a:avLst/>
          </a:prstGeom>
        </p:spPr>
      </p:pic>
      <p:sp>
        <p:nvSpPr>
          <p:cNvPr id="9" name="Подзаголовок 2"/>
          <p:cNvSpPr txBox="1">
            <a:spLocks/>
          </p:cNvSpPr>
          <p:nvPr/>
        </p:nvSpPr>
        <p:spPr>
          <a:xfrm>
            <a:off x="4181475" y="0"/>
            <a:ext cx="3829048" cy="10679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6000" b="1" dirty="0">
                <a:solidFill>
                  <a:srgbClr val="0032A0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Заключение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2DC4B8-3BAA-3881-10A7-5FDFA2F31E27}"/>
              </a:ext>
            </a:extLst>
          </p:cNvPr>
          <p:cNvSpPr txBox="1"/>
          <p:nvPr/>
        </p:nvSpPr>
        <p:spPr>
          <a:xfrm>
            <a:off x="9281685" y="5941714"/>
            <a:ext cx="7865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solidFill>
                  <a:srgbClr val="0032A0"/>
                </a:solidFill>
                <a:latin typeface="Bahnschrift Condensed" panose="020B0502040204020203" pitchFamily="34" charset="0"/>
              </a:rPr>
              <a:t>9</a:t>
            </a:r>
            <a:r>
              <a:rPr lang="ru-RU" sz="4400" b="1" i="0" dirty="0">
                <a:solidFill>
                  <a:srgbClr val="0032A0"/>
                </a:solidFill>
                <a:effectLst/>
                <a:latin typeface="Bahnschrift Condensed" panose="020B0502040204020203" pitchFamily="34" charset="0"/>
              </a:rPr>
              <a:t>/9</a:t>
            </a:r>
            <a:endParaRPr lang="ru-RU" sz="4400" dirty="0">
              <a:solidFill>
                <a:srgbClr val="0032A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8C54E7-0900-11F9-E9E7-739E2C2A8EEE}"/>
              </a:ext>
            </a:extLst>
          </p:cNvPr>
          <p:cNvSpPr txBox="1"/>
          <p:nvPr/>
        </p:nvSpPr>
        <p:spPr>
          <a:xfrm>
            <a:off x="1016721" y="1421783"/>
            <a:ext cx="891493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>
                <a:solidFill>
                  <a:srgbClr val="0032A0"/>
                </a:solidFill>
                <a:latin typeface="Bahnschrift Condensed" panose="020B0502040204020203" pitchFamily="34" charset="0"/>
              </a:rPr>
              <a:t>В ходе курсового проектирования был создан функциональный и удобный в использовании программный продукт, обеспечивающий пользователю простоту подачи заявок на мероприятия службы занятости.</a:t>
            </a:r>
          </a:p>
        </p:txBody>
      </p:sp>
    </p:spTree>
    <p:extLst>
      <p:ext uri="{BB962C8B-B14F-4D97-AF65-F5344CB8AC3E}">
        <p14:creationId xmlns:p14="http://schemas.microsoft.com/office/powerpoint/2010/main" val="2594082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2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3999" y="0"/>
            <a:ext cx="9144000" cy="1800225"/>
          </a:xfrm>
        </p:spPr>
        <p:txBody>
          <a:bodyPr>
            <a:noAutofit/>
          </a:bodyPr>
          <a:lstStyle/>
          <a:p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ФЕДЕРАЛЬНОЕ ГОСУДАРСТВЕННОЕ БЮДЖЕТНОЕ ОБРАЗОВАТЕЛЬНОЕ УЧРЕЖДЕНИЕ ВЫСШЕГО ОБРАЗОВАНИЯ </a:t>
            </a:r>
            <a: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/>
            </a:r>
            <a:b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«САНКТ-ПЕТЕРБУРГСКИЙ ГОСУДАРСТВЕННЫЙ УНИВЕРСИТЕТ </a:t>
            </a:r>
            <a: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/>
            </a:r>
            <a:b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ТЕЛЕКОММУНИКАЦИЙ ИМ. ПРОФ. М.А. БОНЧ-БРУЕВИЧА» </a:t>
            </a:r>
            <a: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/>
            </a:r>
            <a:b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(</a:t>
            </a:r>
            <a:r>
              <a:rPr lang="ru-RU" sz="1400" b="1" dirty="0" err="1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СПбГУТ</a:t>
            </a: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) </a:t>
            </a:r>
            <a: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/>
            </a:r>
            <a:b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/>
            </a:r>
            <a:b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АРХАНГЕЛЬСКИЙ КОЛЛЕДЖ ТЕЛЕКОММУНИКАЦИЙ </a:t>
            </a:r>
            <a: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/>
            </a:r>
            <a:b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ИМ. Б.Л. РОЗИНГА (ФИЛИАЛ) </a:t>
            </a:r>
            <a:r>
              <a:rPr lang="ru-RU" sz="1400" b="1" dirty="0" err="1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СПбГУТ</a:t>
            </a: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/>
            </a:r>
            <a:b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(АКТ (ф) </a:t>
            </a:r>
            <a:r>
              <a:rPr lang="ru-RU" sz="1400" b="1" dirty="0" err="1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СПбГУТ</a:t>
            </a: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) 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38186" y="3188295"/>
            <a:ext cx="6577014" cy="1336080"/>
          </a:xfrm>
        </p:spPr>
        <p:txBody>
          <a:bodyPr>
            <a:noAutofit/>
          </a:bodyPr>
          <a:lstStyle/>
          <a:p>
            <a:pPr algn="l">
              <a:lnSpc>
                <a:spcPct val="114000"/>
              </a:lnSpc>
            </a:pPr>
            <a:r>
              <a:rPr lang="ru-RU" sz="3600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Разработка подсистемы подачи заявок на мероприятия службы занятости</a:t>
            </a: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114300" y="4905871"/>
            <a:ext cx="3838575" cy="64611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600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Студент группы ИСПП-</a:t>
            </a:r>
            <a:r>
              <a:rPr lang="en-US" sz="1600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2</a:t>
            </a:r>
            <a:r>
              <a:rPr lang="ru-RU" sz="1600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1: Поршнев Артём Николаевич</a:t>
            </a:r>
          </a:p>
          <a:p>
            <a:pPr algn="l"/>
            <a:r>
              <a:rPr lang="ru-RU" sz="1600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Руководитель: </a:t>
            </a:r>
            <a:r>
              <a:rPr lang="ru-RU" sz="1600" dirty="0" err="1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Маломан</a:t>
            </a:r>
            <a:r>
              <a:rPr lang="ru-RU" sz="1600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 Юлия Сергеевна</a:t>
            </a:r>
          </a:p>
        </p:txBody>
      </p:sp>
      <p:sp>
        <p:nvSpPr>
          <p:cNvPr id="6" name="Подзаголовок 2"/>
          <p:cNvSpPr txBox="1">
            <a:spLocks/>
          </p:cNvSpPr>
          <p:nvPr/>
        </p:nvSpPr>
        <p:spPr>
          <a:xfrm>
            <a:off x="5283993" y="6469063"/>
            <a:ext cx="1624013" cy="388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Архангельск, 2025</a:t>
            </a:r>
          </a:p>
        </p:txBody>
      </p:sp>
      <p:sp>
        <p:nvSpPr>
          <p:cNvPr id="7" name="Подзаголовок 2"/>
          <p:cNvSpPr txBox="1">
            <a:spLocks/>
          </p:cNvSpPr>
          <p:nvPr/>
        </p:nvSpPr>
        <p:spPr>
          <a:xfrm>
            <a:off x="-1" y="1999060"/>
            <a:ext cx="5314951" cy="10679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66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Курсовой проект </a:t>
            </a:r>
            <a:endParaRPr lang="en-US" sz="6600" b="1" dirty="0">
              <a:solidFill>
                <a:schemeClr val="bg1"/>
              </a:solidFill>
              <a:latin typeface="Bahnschrift Condensed" panose="020B0502040204020203" pitchFamily="34" charset="0"/>
              <a:cs typeface="Arial" panose="020B0604020202020204" pitchFamily="34" charset="0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6451" y="4899658"/>
            <a:ext cx="1486937" cy="1811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630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265</TotalTime>
  <Words>183</Words>
  <Application>Microsoft Office PowerPoint</Application>
  <PresentationFormat>Широкоэкранный</PresentationFormat>
  <Paragraphs>48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Bahnschrift Condensed</vt:lpstr>
      <vt:lpstr>Calibri</vt:lpstr>
      <vt:lpstr>Calibri Light</vt:lpstr>
      <vt:lpstr>Тема Office</vt:lpstr>
      <vt:lpstr>ФЕДЕРАЛЬНОЕ ГОСУДАРСТВЕННОЕ БЮДЖЕТНОЕ ОБРАЗОВАТЕЛЬНОЕ УЧРЕЖДЕНИЕ ВЫСШЕГО ОБРАЗОВАНИЯ  «САНКТ-ПЕТЕРБУРГСКИЙ ГОСУДАРСТВЕННЫЙ УНИВЕРСИТЕТ  ТЕЛЕКОММУНИКАЦИЙ ИМ. ПРОФ. М.А. БОНЧ-БРУЕВИЧА»  (СПбГУТ)   АРХАНГЕЛЬСКИЙ КОЛЛЕДЖ ТЕЛЕКОММУНИКАЦИЙ  ИМ. Б.Л. РОЗИНГА (ФИЛИАЛ) СПбГУТ  (АКТ (ф) СПбГУТ)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ФЕДЕРАЛЬНОЕ ГОСУДАРСТВЕННОЕ БЮДЖЕТНОЕ ОБРАЗОВАТЕЛЬНОЕ УЧРЕЖДЕНИЕ ВЫСШЕГО ОБРАЗОВАНИЯ  «САНКТ-ПЕТЕРБУРГСКИЙ ГОСУДАРСТВЕННЫЙ УНИВЕРСИТЕТ  ТЕЛЕКОММУНИКАЦИЙ ИМ. ПРОФ. М.А. БОНЧ-БРУЕВИЧА»  (СПбГУТ)   АРХАНГЕЛЬСКИЙ КОЛЛЕДЖ ТЕЛЕКОММУНИКАЦИЙ  ИМ. Б.Л. РОЗИНГА (ФИЛИАЛ) СПбГУТ  (АКТ (ф) СПбГУТ) </vt:lpstr>
    </vt:vector>
  </TitlesOfParts>
  <Company>АКТ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0109-13</dc:creator>
  <cp:lastModifiedBy>0109-13</cp:lastModifiedBy>
  <cp:revision>19</cp:revision>
  <dcterms:created xsi:type="dcterms:W3CDTF">2025-12-01T08:18:07Z</dcterms:created>
  <dcterms:modified xsi:type="dcterms:W3CDTF">2025-12-11T09:49:53Z</dcterms:modified>
</cp:coreProperties>
</file>
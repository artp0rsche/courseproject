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notesMasterIdLst>
    <p:notesMasterId r:id="rId12"/>
  </p:notesMasterIdLst>
  <p:sldIdLst>
    <p:sldId id="257" r:id="rId2"/>
    <p:sldId id="259" r:id="rId3"/>
    <p:sldId id="267" r:id="rId4"/>
    <p:sldId id="261" r:id="rId5"/>
    <p:sldId id="268" r:id="rId6"/>
    <p:sldId id="269" r:id="rId7"/>
    <p:sldId id="264" r:id="rId8"/>
    <p:sldId id="270" r:id="rId9"/>
    <p:sldId id="271" r:id="rId10"/>
    <p:sldId id="258" r:id="rId11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32A0"/>
    <a:srgbClr val="69B3E7"/>
    <a:srgbClr val="FF5124"/>
    <a:srgbClr val="D7572B"/>
    <a:srgbClr val="CF452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6" d="100"/>
          <a:sy n="106" d="100"/>
        </p:scale>
        <p:origin x="756" y="1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34EF4E9-38F9-476B-9E70-9F823E8BF97F}" type="datetimeFigureOut">
              <a:rPr lang="ru-RU" smtClean="0"/>
              <a:t>10.12.2025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B1FAABC-0AA4-4E61-A4E3-0ECF43D0EF9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554550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1FAABC-0AA4-4E61-A4E3-0ECF43D0EF96}" type="slidenum">
              <a:rPr lang="ru-RU" smtClean="0"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4719625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DAC022-C4BD-4DE5-B6C6-2C8CA39FFCFB}" type="datetimeFigureOut">
              <a:rPr lang="ru-RU" smtClean="0"/>
              <a:t>10.12.2025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C320B6-4962-44D6-AA69-877562DACD1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88156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DAC022-C4BD-4DE5-B6C6-2C8CA39FFCFB}" type="datetimeFigureOut">
              <a:rPr lang="ru-RU" smtClean="0"/>
              <a:t>10.12.2025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C320B6-4962-44D6-AA69-877562DACD1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484618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DAC022-C4BD-4DE5-B6C6-2C8CA39FFCFB}" type="datetimeFigureOut">
              <a:rPr lang="ru-RU" smtClean="0"/>
              <a:t>10.12.2025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C320B6-4962-44D6-AA69-877562DACD1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531676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DAC022-C4BD-4DE5-B6C6-2C8CA39FFCFB}" type="datetimeFigureOut">
              <a:rPr lang="ru-RU" smtClean="0"/>
              <a:t>10.12.2025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C320B6-4962-44D6-AA69-877562DACD1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626388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DAC022-C4BD-4DE5-B6C6-2C8CA39FFCFB}" type="datetimeFigureOut">
              <a:rPr lang="ru-RU" smtClean="0"/>
              <a:t>10.12.2025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C320B6-4962-44D6-AA69-877562DACD1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870342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DAC022-C4BD-4DE5-B6C6-2C8CA39FFCFB}" type="datetimeFigureOut">
              <a:rPr lang="ru-RU" smtClean="0"/>
              <a:t>10.12.2025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C320B6-4962-44D6-AA69-877562DACD1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179325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DAC022-C4BD-4DE5-B6C6-2C8CA39FFCFB}" type="datetimeFigureOut">
              <a:rPr lang="ru-RU" smtClean="0"/>
              <a:t>10.12.2025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C320B6-4962-44D6-AA69-877562DACD1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493661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DAC022-C4BD-4DE5-B6C6-2C8CA39FFCFB}" type="datetimeFigureOut">
              <a:rPr lang="ru-RU" smtClean="0"/>
              <a:t>10.12.2025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C320B6-4962-44D6-AA69-877562DACD1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413851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DAC022-C4BD-4DE5-B6C6-2C8CA39FFCFB}" type="datetimeFigureOut">
              <a:rPr lang="ru-RU" smtClean="0"/>
              <a:t>10.12.2025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C320B6-4962-44D6-AA69-877562DACD1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44963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DAC022-C4BD-4DE5-B6C6-2C8CA39FFCFB}" type="datetimeFigureOut">
              <a:rPr lang="ru-RU" smtClean="0"/>
              <a:t>10.12.2025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C320B6-4962-44D6-AA69-877562DACD1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870774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DAC022-C4BD-4DE5-B6C6-2C8CA39FFCFB}" type="datetimeFigureOut">
              <a:rPr lang="ru-RU" smtClean="0"/>
              <a:t>10.12.2025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C320B6-4962-44D6-AA69-877562DACD1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928726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5DAC022-C4BD-4DE5-B6C6-2C8CA39FFCFB}" type="datetimeFigureOut">
              <a:rPr lang="ru-RU" smtClean="0"/>
              <a:t>10.12.2025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EC320B6-4962-44D6-AA69-877562DACD1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396359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6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32A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3999" y="0"/>
            <a:ext cx="9144000" cy="1800225"/>
          </a:xfrm>
        </p:spPr>
        <p:txBody>
          <a:bodyPr>
            <a:noAutofit/>
          </a:bodyPr>
          <a:lstStyle/>
          <a:p>
            <a:r>
              <a:rPr lang="ru-RU" sz="1400" b="1" dirty="0">
                <a:solidFill>
                  <a:schemeClr val="bg1"/>
                </a:solidFill>
                <a:latin typeface="Bahnschrift Condensed" panose="020B0502040204020203" pitchFamily="34" charset="0"/>
                <a:cs typeface="Arial" panose="020B0604020202020204" pitchFamily="34" charset="0"/>
              </a:rPr>
              <a:t>ФЕДЕРАЛЬНОЕ ГОСУДАРСТВЕННОЕ БЮДЖЕТНОЕ ОБРАЗОВАТЕЛЬНОЕ УЧРЕЖДЕНИЕ ВЫСШЕГО ОБРАЗОВАНИЯ </a:t>
            </a:r>
            <a:br>
              <a:rPr lang="en-US" sz="1400" b="1" dirty="0">
                <a:solidFill>
                  <a:schemeClr val="bg1"/>
                </a:solidFill>
                <a:latin typeface="Bahnschrift Condensed" panose="020B0502040204020203" pitchFamily="34" charset="0"/>
                <a:cs typeface="Arial" panose="020B0604020202020204" pitchFamily="34" charset="0"/>
              </a:rPr>
            </a:br>
            <a:r>
              <a:rPr lang="ru-RU" sz="1400" b="1" dirty="0">
                <a:solidFill>
                  <a:schemeClr val="bg1"/>
                </a:solidFill>
                <a:latin typeface="Bahnschrift Condensed" panose="020B0502040204020203" pitchFamily="34" charset="0"/>
                <a:cs typeface="Arial" panose="020B0604020202020204" pitchFamily="34" charset="0"/>
              </a:rPr>
              <a:t>«САНКТ-ПЕТЕРБУРГСКИЙ ГОСУДАРСТВЕННЫЙ УНИВЕРСИТЕТ </a:t>
            </a:r>
            <a:br>
              <a:rPr lang="en-US" sz="1400" b="1" dirty="0">
                <a:solidFill>
                  <a:schemeClr val="bg1"/>
                </a:solidFill>
                <a:latin typeface="Bahnschrift Condensed" panose="020B0502040204020203" pitchFamily="34" charset="0"/>
                <a:cs typeface="Arial" panose="020B0604020202020204" pitchFamily="34" charset="0"/>
              </a:rPr>
            </a:br>
            <a:r>
              <a:rPr lang="ru-RU" sz="1400" b="1" dirty="0">
                <a:solidFill>
                  <a:schemeClr val="bg1"/>
                </a:solidFill>
                <a:latin typeface="Bahnschrift Condensed" panose="020B0502040204020203" pitchFamily="34" charset="0"/>
                <a:cs typeface="Arial" panose="020B0604020202020204" pitchFamily="34" charset="0"/>
              </a:rPr>
              <a:t>ТЕЛЕКОММУНИКАЦИЙ ИМ. ПРОФ. М.А. БОНЧ-БРУЕВИЧА» </a:t>
            </a:r>
            <a:br>
              <a:rPr lang="en-US" sz="1400" b="1" dirty="0">
                <a:solidFill>
                  <a:schemeClr val="bg1"/>
                </a:solidFill>
                <a:latin typeface="Bahnschrift Condensed" panose="020B0502040204020203" pitchFamily="34" charset="0"/>
                <a:cs typeface="Arial" panose="020B0604020202020204" pitchFamily="34" charset="0"/>
              </a:rPr>
            </a:br>
            <a:r>
              <a:rPr lang="ru-RU" sz="1400" b="1" dirty="0">
                <a:solidFill>
                  <a:schemeClr val="bg1"/>
                </a:solidFill>
                <a:latin typeface="Bahnschrift Condensed" panose="020B0502040204020203" pitchFamily="34" charset="0"/>
                <a:cs typeface="Arial" panose="020B0604020202020204" pitchFamily="34" charset="0"/>
              </a:rPr>
              <a:t>(</a:t>
            </a:r>
            <a:r>
              <a:rPr lang="ru-RU" sz="1400" b="1" dirty="0" err="1">
                <a:solidFill>
                  <a:schemeClr val="bg1"/>
                </a:solidFill>
                <a:latin typeface="Bahnschrift Condensed" panose="020B0502040204020203" pitchFamily="34" charset="0"/>
                <a:cs typeface="Arial" panose="020B0604020202020204" pitchFamily="34" charset="0"/>
              </a:rPr>
              <a:t>СПбГУТ</a:t>
            </a:r>
            <a:r>
              <a:rPr lang="ru-RU" sz="1400" b="1" dirty="0">
                <a:solidFill>
                  <a:schemeClr val="bg1"/>
                </a:solidFill>
                <a:latin typeface="Bahnschrift Condensed" panose="020B0502040204020203" pitchFamily="34" charset="0"/>
                <a:cs typeface="Arial" panose="020B0604020202020204" pitchFamily="34" charset="0"/>
              </a:rPr>
              <a:t>) </a:t>
            </a:r>
            <a:br>
              <a:rPr lang="en-US" sz="1400" b="1" dirty="0">
                <a:solidFill>
                  <a:schemeClr val="bg1"/>
                </a:solidFill>
                <a:latin typeface="Bahnschrift Condensed" panose="020B0502040204020203" pitchFamily="34" charset="0"/>
                <a:cs typeface="Arial" panose="020B0604020202020204" pitchFamily="34" charset="0"/>
              </a:rPr>
            </a:br>
            <a:br>
              <a:rPr lang="en-US" sz="1400" b="1" dirty="0">
                <a:solidFill>
                  <a:schemeClr val="bg1"/>
                </a:solidFill>
                <a:latin typeface="Bahnschrift Condensed" panose="020B0502040204020203" pitchFamily="34" charset="0"/>
                <a:cs typeface="Arial" panose="020B0604020202020204" pitchFamily="34" charset="0"/>
              </a:rPr>
            </a:br>
            <a:r>
              <a:rPr lang="ru-RU" sz="1400" b="1" dirty="0">
                <a:solidFill>
                  <a:schemeClr val="bg1"/>
                </a:solidFill>
                <a:latin typeface="Bahnschrift Condensed" panose="020B0502040204020203" pitchFamily="34" charset="0"/>
                <a:cs typeface="Arial" panose="020B0604020202020204" pitchFamily="34" charset="0"/>
              </a:rPr>
              <a:t>АРХАНГЕЛЬСКИЙ КОЛЛЕДЖ ТЕЛЕКОММУНИКАЦИЙ </a:t>
            </a:r>
            <a:br>
              <a:rPr lang="en-US" sz="1400" b="1" dirty="0">
                <a:solidFill>
                  <a:schemeClr val="bg1"/>
                </a:solidFill>
                <a:latin typeface="Bahnschrift Condensed" panose="020B0502040204020203" pitchFamily="34" charset="0"/>
                <a:cs typeface="Arial" panose="020B0604020202020204" pitchFamily="34" charset="0"/>
              </a:rPr>
            </a:br>
            <a:r>
              <a:rPr lang="ru-RU" sz="1400" b="1" dirty="0">
                <a:solidFill>
                  <a:schemeClr val="bg1"/>
                </a:solidFill>
                <a:latin typeface="Bahnschrift Condensed" panose="020B0502040204020203" pitchFamily="34" charset="0"/>
                <a:cs typeface="Arial" panose="020B0604020202020204" pitchFamily="34" charset="0"/>
              </a:rPr>
              <a:t>ИМ. Б.Л. РОЗИНГА (ФИЛИАЛ) </a:t>
            </a:r>
            <a:r>
              <a:rPr lang="ru-RU" sz="1400" b="1" dirty="0" err="1">
                <a:solidFill>
                  <a:schemeClr val="bg1"/>
                </a:solidFill>
                <a:latin typeface="Bahnschrift Condensed" panose="020B0502040204020203" pitchFamily="34" charset="0"/>
                <a:cs typeface="Arial" panose="020B0604020202020204" pitchFamily="34" charset="0"/>
              </a:rPr>
              <a:t>СПбГУТ</a:t>
            </a:r>
            <a:r>
              <a:rPr lang="ru-RU" sz="1400" b="1" dirty="0">
                <a:solidFill>
                  <a:schemeClr val="bg1"/>
                </a:solidFill>
                <a:latin typeface="Bahnschrift Condensed" panose="020B0502040204020203" pitchFamily="34" charset="0"/>
                <a:cs typeface="Arial" panose="020B0604020202020204" pitchFamily="34" charset="0"/>
              </a:rPr>
              <a:t> </a:t>
            </a:r>
            <a:br>
              <a:rPr lang="en-US" sz="1400" b="1" dirty="0">
                <a:solidFill>
                  <a:schemeClr val="bg1"/>
                </a:solidFill>
                <a:latin typeface="Bahnschrift Condensed" panose="020B0502040204020203" pitchFamily="34" charset="0"/>
                <a:cs typeface="Arial" panose="020B0604020202020204" pitchFamily="34" charset="0"/>
              </a:rPr>
            </a:br>
            <a:r>
              <a:rPr lang="ru-RU" sz="1400" b="1" dirty="0">
                <a:solidFill>
                  <a:schemeClr val="bg1"/>
                </a:solidFill>
                <a:latin typeface="Bahnschrift Condensed" panose="020B0502040204020203" pitchFamily="34" charset="0"/>
                <a:cs typeface="Arial" panose="020B0604020202020204" pitchFamily="34" charset="0"/>
              </a:rPr>
              <a:t>(АКТ (ф) </a:t>
            </a:r>
            <a:r>
              <a:rPr lang="ru-RU" sz="1400" b="1" dirty="0" err="1">
                <a:solidFill>
                  <a:schemeClr val="bg1"/>
                </a:solidFill>
                <a:latin typeface="Bahnschrift Condensed" panose="020B0502040204020203" pitchFamily="34" charset="0"/>
                <a:cs typeface="Arial" panose="020B0604020202020204" pitchFamily="34" charset="0"/>
              </a:rPr>
              <a:t>СПбГУТ</a:t>
            </a:r>
            <a:r>
              <a:rPr lang="ru-RU" sz="1400" b="1" dirty="0">
                <a:solidFill>
                  <a:schemeClr val="bg1"/>
                </a:solidFill>
                <a:latin typeface="Bahnschrift Condensed" panose="020B0502040204020203" pitchFamily="34" charset="0"/>
                <a:cs typeface="Arial" panose="020B0604020202020204" pitchFamily="34" charset="0"/>
              </a:rPr>
              <a:t>) 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738186" y="3188295"/>
            <a:ext cx="6577014" cy="1336080"/>
          </a:xfrm>
        </p:spPr>
        <p:txBody>
          <a:bodyPr>
            <a:noAutofit/>
          </a:bodyPr>
          <a:lstStyle/>
          <a:p>
            <a:pPr algn="l">
              <a:lnSpc>
                <a:spcPct val="114000"/>
              </a:lnSpc>
            </a:pPr>
            <a:r>
              <a:rPr lang="ru-RU" sz="3600" dirty="0">
                <a:solidFill>
                  <a:schemeClr val="bg1"/>
                </a:solidFill>
                <a:latin typeface="Bahnschrift Condensed" panose="020B0502040204020203" pitchFamily="34" charset="0"/>
                <a:cs typeface="Arial" panose="020B0604020202020204" pitchFamily="34" charset="0"/>
              </a:rPr>
              <a:t>Разработка подсистемы подачи заявок на мероприятия службы занятости</a:t>
            </a:r>
          </a:p>
        </p:txBody>
      </p:sp>
      <p:sp>
        <p:nvSpPr>
          <p:cNvPr id="5" name="Подзаголовок 2"/>
          <p:cNvSpPr txBox="1">
            <a:spLocks/>
          </p:cNvSpPr>
          <p:nvPr/>
        </p:nvSpPr>
        <p:spPr>
          <a:xfrm>
            <a:off x="114300" y="4905871"/>
            <a:ext cx="3838575" cy="646112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ru-RU" sz="1600" dirty="0">
                <a:solidFill>
                  <a:schemeClr val="bg1"/>
                </a:solidFill>
                <a:latin typeface="Bahnschrift Condensed" panose="020B0502040204020203" pitchFamily="34" charset="0"/>
                <a:cs typeface="Arial" panose="020B0604020202020204" pitchFamily="34" charset="0"/>
              </a:rPr>
              <a:t>Студент группы ИСПП-</a:t>
            </a:r>
            <a:r>
              <a:rPr lang="en-US" sz="1600" dirty="0">
                <a:solidFill>
                  <a:schemeClr val="bg1"/>
                </a:solidFill>
                <a:latin typeface="Bahnschrift Condensed" panose="020B0502040204020203" pitchFamily="34" charset="0"/>
                <a:cs typeface="Arial" panose="020B0604020202020204" pitchFamily="34" charset="0"/>
              </a:rPr>
              <a:t>2</a:t>
            </a:r>
            <a:r>
              <a:rPr lang="ru-RU" sz="1600" dirty="0">
                <a:solidFill>
                  <a:schemeClr val="bg1"/>
                </a:solidFill>
                <a:latin typeface="Bahnschrift Condensed" panose="020B0502040204020203" pitchFamily="34" charset="0"/>
                <a:cs typeface="Arial" panose="020B0604020202020204" pitchFamily="34" charset="0"/>
              </a:rPr>
              <a:t>1: Поршнев Артём Николаевич</a:t>
            </a:r>
          </a:p>
          <a:p>
            <a:pPr algn="l"/>
            <a:r>
              <a:rPr lang="ru-RU" sz="1600" dirty="0">
                <a:solidFill>
                  <a:schemeClr val="bg1"/>
                </a:solidFill>
                <a:latin typeface="Bahnschrift Condensed" panose="020B0502040204020203" pitchFamily="34" charset="0"/>
                <a:cs typeface="Arial" panose="020B0604020202020204" pitchFamily="34" charset="0"/>
              </a:rPr>
              <a:t>Руководитель: </a:t>
            </a:r>
            <a:r>
              <a:rPr lang="ru-RU" sz="1600" dirty="0" err="1">
                <a:solidFill>
                  <a:schemeClr val="bg1"/>
                </a:solidFill>
                <a:latin typeface="Bahnschrift Condensed" panose="020B0502040204020203" pitchFamily="34" charset="0"/>
                <a:cs typeface="Arial" panose="020B0604020202020204" pitchFamily="34" charset="0"/>
              </a:rPr>
              <a:t>Маломан</a:t>
            </a:r>
            <a:r>
              <a:rPr lang="ru-RU" sz="1600" dirty="0">
                <a:solidFill>
                  <a:schemeClr val="bg1"/>
                </a:solidFill>
                <a:latin typeface="Bahnschrift Condensed" panose="020B0502040204020203" pitchFamily="34" charset="0"/>
                <a:cs typeface="Arial" panose="020B0604020202020204" pitchFamily="34" charset="0"/>
              </a:rPr>
              <a:t> Юлия Сергеевна</a:t>
            </a:r>
          </a:p>
        </p:txBody>
      </p:sp>
      <p:sp>
        <p:nvSpPr>
          <p:cNvPr id="6" name="Подзаголовок 2"/>
          <p:cNvSpPr txBox="1">
            <a:spLocks/>
          </p:cNvSpPr>
          <p:nvPr/>
        </p:nvSpPr>
        <p:spPr>
          <a:xfrm>
            <a:off x="5283993" y="6469063"/>
            <a:ext cx="1624013" cy="38893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1800" dirty="0">
                <a:solidFill>
                  <a:schemeClr val="bg1"/>
                </a:solidFill>
                <a:latin typeface="Bahnschrift Condensed" panose="020B0502040204020203" pitchFamily="34" charset="0"/>
                <a:cs typeface="Arial" panose="020B0604020202020204" pitchFamily="34" charset="0"/>
              </a:rPr>
              <a:t>Архангельск, 2025</a:t>
            </a:r>
          </a:p>
        </p:txBody>
      </p:sp>
      <p:sp>
        <p:nvSpPr>
          <p:cNvPr id="7" name="Подзаголовок 2"/>
          <p:cNvSpPr txBox="1">
            <a:spLocks/>
          </p:cNvSpPr>
          <p:nvPr/>
        </p:nvSpPr>
        <p:spPr>
          <a:xfrm>
            <a:off x="-1" y="1999060"/>
            <a:ext cx="5314951" cy="106799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6600" b="1" dirty="0">
                <a:solidFill>
                  <a:schemeClr val="bg1"/>
                </a:solidFill>
                <a:latin typeface="Bahnschrift Condensed" panose="020B0502040204020203" pitchFamily="34" charset="0"/>
                <a:cs typeface="Arial" panose="020B0604020202020204" pitchFamily="34" charset="0"/>
              </a:rPr>
              <a:t>Курсовой проект </a:t>
            </a:r>
            <a:endParaRPr lang="en-US" sz="6600" b="1" dirty="0">
              <a:solidFill>
                <a:schemeClr val="bg1"/>
              </a:solidFill>
              <a:latin typeface="Bahnschrift Condensed" panose="020B0502040204020203" pitchFamily="34" charset="0"/>
              <a:cs typeface="Arial" panose="020B0604020202020204" pitchFamily="34" charset="0"/>
            </a:endParaRPr>
          </a:p>
        </p:txBody>
      </p:sp>
      <p:pic>
        <p:nvPicPr>
          <p:cNvPr id="16" name="Рисунок 1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6451" y="4899658"/>
            <a:ext cx="1486937" cy="18114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83808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51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Рисунок 21" descr="Изображение выглядит как графическая вставка, белый, мультфильм, силуэт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DEFAD6FC-F629-96AE-9B62-02C8DFC8895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46296" y="2918048"/>
            <a:ext cx="1021904" cy="1021904"/>
          </a:xfrm>
          <a:prstGeom prst="rect">
            <a:avLst/>
          </a:prstGeom>
        </p:spPr>
      </p:pic>
      <p:pic>
        <p:nvPicPr>
          <p:cNvPr id="20" name="Рисунок 19" descr="Изображение выглядит как шестерня, металлоизделия, транспорт, круг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F05AC8EC-8870-B332-A974-1A3339AFDEC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2373" y="4329115"/>
            <a:ext cx="977229" cy="977229"/>
          </a:xfrm>
          <a:prstGeom prst="rect">
            <a:avLst/>
          </a:prstGeom>
        </p:spPr>
      </p:pic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4C3C7546-62DB-B932-F09B-B6073EE601B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76451" y="4899657"/>
            <a:ext cx="1486937" cy="1811498"/>
          </a:xfrm>
          <a:prstGeom prst="rect">
            <a:avLst/>
          </a:prstGeom>
        </p:spPr>
      </p:pic>
      <p:sp>
        <p:nvSpPr>
          <p:cNvPr id="7" name="Подзаголовок 2"/>
          <p:cNvSpPr txBox="1">
            <a:spLocks/>
          </p:cNvSpPr>
          <p:nvPr/>
        </p:nvSpPr>
        <p:spPr>
          <a:xfrm>
            <a:off x="4071418" y="0"/>
            <a:ext cx="4049161" cy="106799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6600" b="1" dirty="0">
                <a:solidFill>
                  <a:schemeClr val="bg1"/>
                </a:solidFill>
                <a:latin typeface="Bahnschrift Condensed" panose="020B0502040204020203" pitchFamily="34" charset="0"/>
                <a:cs typeface="Arial" panose="020B0604020202020204" pitchFamily="34" charset="0"/>
              </a:rPr>
              <a:t>Актуальность</a:t>
            </a:r>
            <a:endParaRPr lang="en-US" sz="6600" b="1" dirty="0">
              <a:solidFill>
                <a:schemeClr val="bg1"/>
              </a:solidFill>
              <a:latin typeface="Bahnschrift Condensed" panose="020B0502040204020203" pitchFamily="34" charset="0"/>
              <a:cs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3EA3D82-1ADF-902E-C54A-19EB36D7B20C}"/>
              </a:ext>
            </a:extLst>
          </p:cNvPr>
          <p:cNvSpPr txBox="1"/>
          <p:nvPr/>
        </p:nvSpPr>
        <p:spPr>
          <a:xfrm>
            <a:off x="2104075" y="3105835"/>
            <a:ext cx="694222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600" b="1" i="0" dirty="0">
                <a:solidFill>
                  <a:schemeClr val="bg1"/>
                </a:solidFill>
                <a:effectLst/>
                <a:latin typeface="Bahnschrift Condensed" panose="020B0502040204020203" pitchFamily="34" charset="0"/>
              </a:rPr>
              <a:t>Повышение доступности услуг для граждан</a:t>
            </a:r>
            <a:endParaRPr lang="ru-RU" sz="3600" dirty="0">
              <a:solidFill>
                <a:schemeClr val="bg1"/>
              </a:solidFill>
              <a:latin typeface="Bahnschrift Condensed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6FF77D1-5EAD-C091-C003-6E4347443168}"/>
              </a:ext>
            </a:extLst>
          </p:cNvPr>
          <p:cNvSpPr txBox="1"/>
          <p:nvPr/>
        </p:nvSpPr>
        <p:spPr>
          <a:xfrm>
            <a:off x="3280001" y="4493646"/>
            <a:ext cx="622192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600" b="1" i="0" dirty="0">
                <a:solidFill>
                  <a:schemeClr val="bg1"/>
                </a:solidFill>
                <a:effectLst/>
                <a:latin typeface="Bahnschrift Condensed" panose="020B0502040204020203" pitchFamily="34" charset="0"/>
              </a:rPr>
              <a:t>Оптимизация работы службы занятости</a:t>
            </a:r>
            <a:endParaRPr lang="ru-RU" sz="3600" dirty="0">
              <a:solidFill>
                <a:schemeClr val="bg1"/>
              </a:solidFill>
              <a:latin typeface="Bahnschrift Condensed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456C2A0-8CBE-4F24-106F-CF0E012C117F}"/>
              </a:ext>
            </a:extLst>
          </p:cNvPr>
          <p:cNvSpPr txBox="1"/>
          <p:nvPr/>
        </p:nvSpPr>
        <p:spPr>
          <a:xfrm>
            <a:off x="1675227" y="1718024"/>
            <a:ext cx="884154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600" b="1" i="0" dirty="0">
                <a:solidFill>
                  <a:schemeClr val="bg1"/>
                </a:solidFill>
                <a:effectLst/>
                <a:latin typeface="Bahnschrift Condensed" panose="020B0502040204020203" pitchFamily="34" charset="0"/>
              </a:rPr>
              <a:t>Интеграция с существующими цифровыми платформами</a:t>
            </a:r>
            <a:endParaRPr lang="ru-RU" sz="3600" dirty="0">
              <a:solidFill>
                <a:schemeClr val="bg1"/>
              </a:solidFill>
              <a:latin typeface="Bahnschrift Condensed" panose="020B0502040204020203" pitchFamily="34" charset="0"/>
            </a:endParaRPr>
          </a:p>
        </p:txBody>
      </p:sp>
      <p:pic>
        <p:nvPicPr>
          <p:cNvPr id="10" name="Рисунок 9" descr="Изображение выглядит как символ, Цвет электрик, снимок экрана, круг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BA6AEF92-521D-7033-9207-B7654233E759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9446" y="1657733"/>
            <a:ext cx="766916" cy="766916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07E51A18-DDBD-F708-21E8-73981E3816F8}"/>
              </a:ext>
            </a:extLst>
          </p:cNvPr>
          <p:cNvSpPr txBox="1"/>
          <p:nvPr/>
        </p:nvSpPr>
        <p:spPr>
          <a:xfrm>
            <a:off x="9281685" y="5941714"/>
            <a:ext cx="7865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4400" b="1" i="0" dirty="0">
                <a:solidFill>
                  <a:schemeClr val="bg1"/>
                </a:solidFill>
                <a:effectLst/>
                <a:latin typeface="Bahnschrift Condensed" panose="020B0502040204020203" pitchFamily="34" charset="0"/>
              </a:rPr>
              <a:t>2/9</a:t>
            </a:r>
            <a:endParaRPr lang="ru-RU" sz="4400" dirty="0">
              <a:solidFill>
                <a:schemeClr val="bg1"/>
              </a:solidFill>
              <a:latin typeface="Bahnschrift Condensed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946883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69B3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B2CCE02B-3A24-4FFB-8FAA-F5EEDB9440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6451" y="4899658"/>
            <a:ext cx="1486937" cy="1811498"/>
          </a:xfrm>
          <a:prstGeom prst="rect">
            <a:avLst/>
          </a:prstGeom>
        </p:spPr>
      </p:pic>
      <p:sp>
        <p:nvSpPr>
          <p:cNvPr id="4" name="Подзаголовок 2"/>
          <p:cNvSpPr txBox="1">
            <a:spLocks/>
          </p:cNvSpPr>
          <p:nvPr/>
        </p:nvSpPr>
        <p:spPr>
          <a:xfrm>
            <a:off x="3200400" y="0"/>
            <a:ext cx="5791198" cy="106799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6600" b="1" dirty="0">
                <a:solidFill>
                  <a:srgbClr val="0032A0"/>
                </a:solidFill>
                <a:latin typeface="Bahnschrift Condensed" panose="020B0502040204020203" pitchFamily="34" charset="0"/>
                <a:cs typeface="Arial" panose="020B0604020202020204" pitchFamily="34" charset="0"/>
              </a:rPr>
              <a:t>Целевая аудитория</a:t>
            </a:r>
          </a:p>
        </p:txBody>
      </p:sp>
      <p:pic>
        <p:nvPicPr>
          <p:cNvPr id="7" name="Рисунок 6" descr="Изображение выглядит как зарисовка, графическая вставка, искусство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E5491C60-395A-650F-DF53-57BE67F41B2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3834" y="2451085"/>
            <a:ext cx="1013642" cy="1013642"/>
          </a:xfrm>
          <a:prstGeom prst="rect">
            <a:avLst/>
          </a:prstGeom>
        </p:spPr>
      </p:pic>
      <p:pic>
        <p:nvPicPr>
          <p:cNvPr id="9" name="Рисунок 8" descr="Изображение выглядит как Графика, снимок экрана, Шрифт, круг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39E03CB0-C374-CAFE-E644-6A5F328A4C9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361" y="4885284"/>
            <a:ext cx="920123" cy="920123"/>
          </a:xfrm>
          <a:prstGeom prst="rect">
            <a:avLst/>
          </a:prstGeom>
        </p:spPr>
      </p:pic>
      <p:pic>
        <p:nvPicPr>
          <p:cNvPr id="11" name="Рисунок 10" descr="Изображение выглядит как искусство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9B205A82-B861-A390-1E7F-59447E3E2F4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362" y="3714944"/>
            <a:ext cx="920123" cy="920123"/>
          </a:xfrm>
          <a:prstGeom prst="rect">
            <a:avLst/>
          </a:prstGeom>
        </p:spPr>
      </p:pic>
      <p:pic>
        <p:nvPicPr>
          <p:cNvPr id="13" name="Рисунок 12" descr="Изображение выглядит как Шрифт, Графика, символ, дизайн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402223B8-536C-DBAB-3355-5E902B4F558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362" y="1280745"/>
            <a:ext cx="920123" cy="920123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1002081D-7F9D-EFC2-CD29-BB81458948AC}"/>
              </a:ext>
            </a:extLst>
          </p:cNvPr>
          <p:cNvSpPr txBox="1"/>
          <p:nvPr/>
        </p:nvSpPr>
        <p:spPr>
          <a:xfrm>
            <a:off x="2047081" y="2588576"/>
            <a:ext cx="5467659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4000" dirty="0">
                <a:solidFill>
                  <a:srgbClr val="0032A0"/>
                </a:solidFill>
                <a:latin typeface="Bahnschrift Condensed" panose="020B0502040204020203" pitchFamily="34" charset="0"/>
              </a:rPr>
              <a:t>Сотрудники службы занятости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319CA41-3F28-3058-ADA1-4011ECE108B9}"/>
              </a:ext>
            </a:extLst>
          </p:cNvPr>
          <p:cNvSpPr txBox="1"/>
          <p:nvPr/>
        </p:nvSpPr>
        <p:spPr>
          <a:xfrm>
            <a:off x="2046065" y="5036008"/>
            <a:ext cx="2598363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4000" dirty="0">
                <a:solidFill>
                  <a:srgbClr val="0032A0"/>
                </a:solidFill>
                <a:latin typeface="Bahnschrift Condensed" panose="020B0502040204020203" pitchFamily="34" charset="0"/>
              </a:rPr>
              <a:t>Работодатели</a:t>
            </a:r>
            <a:endParaRPr lang="ru-RU" sz="3600" dirty="0">
              <a:solidFill>
                <a:srgbClr val="0032A0"/>
              </a:solidFill>
              <a:latin typeface="Bahnschrift Condensed" panose="020B0502040204020203" pitchFamily="34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8651B68-2388-7116-C341-22C60DC03DB5}"/>
              </a:ext>
            </a:extLst>
          </p:cNvPr>
          <p:cNvSpPr txBox="1"/>
          <p:nvPr/>
        </p:nvSpPr>
        <p:spPr>
          <a:xfrm>
            <a:off x="2046065" y="3812292"/>
            <a:ext cx="3974489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4000" dirty="0">
                <a:solidFill>
                  <a:srgbClr val="0032A0"/>
                </a:solidFill>
                <a:latin typeface="Bahnschrift Condensed" panose="020B0502040204020203" pitchFamily="34" charset="0"/>
              </a:rPr>
              <a:t>Студенты и учащиеся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F748995-A295-9AA7-1EAD-2EE638F6DCD8}"/>
              </a:ext>
            </a:extLst>
          </p:cNvPr>
          <p:cNvSpPr txBox="1"/>
          <p:nvPr/>
        </p:nvSpPr>
        <p:spPr>
          <a:xfrm>
            <a:off x="2047081" y="1386864"/>
            <a:ext cx="824671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4000" dirty="0">
                <a:solidFill>
                  <a:srgbClr val="0032A0"/>
                </a:solidFill>
                <a:latin typeface="Bahnschrift Condensed" panose="020B0502040204020203" pitchFamily="34" charset="0"/>
              </a:rPr>
              <a:t>Люди, находящиеся в активном поиске работы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5584D7A-ACBC-76A9-2748-1642BA717768}"/>
              </a:ext>
            </a:extLst>
          </p:cNvPr>
          <p:cNvSpPr txBox="1"/>
          <p:nvPr/>
        </p:nvSpPr>
        <p:spPr>
          <a:xfrm>
            <a:off x="9281685" y="5941714"/>
            <a:ext cx="7865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4400" b="1" dirty="0">
                <a:solidFill>
                  <a:srgbClr val="0032A0"/>
                </a:solidFill>
                <a:latin typeface="Bahnschrift Condensed" panose="020B0502040204020203" pitchFamily="34" charset="0"/>
              </a:rPr>
              <a:t>3</a:t>
            </a:r>
            <a:r>
              <a:rPr lang="ru-RU" sz="4400" b="1" i="0" dirty="0">
                <a:solidFill>
                  <a:srgbClr val="0032A0"/>
                </a:solidFill>
                <a:effectLst/>
                <a:latin typeface="Bahnschrift Condensed" panose="020B0502040204020203" pitchFamily="34" charset="0"/>
              </a:rPr>
              <a:t>/9</a:t>
            </a:r>
            <a:endParaRPr lang="ru-RU" sz="4400" dirty="0">
              <a:solidFill>
                <a:srgbClr val="0032A0"/>
              </a:solidFill>
              <a:latin typeface="Bahnschrift Condensed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254911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51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5AF2B1AE-ABEE-ADA5-C4EE-4AD6A7E598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6451" y="4899657"/>
            <a:ext cx="1486937" cy="1811498"/>
          </a:xfrm>
          <a:prstGeom prst="rect">
            <a:avLst/>
          </a:prstGeom>
        </p:spPr>
      </p:pic>
      <p:sp>
        <p:nvSpPr>
          <p:cNvPr id="12" name="Подзаголовок 2"/>
          <p:cNvSpPr txBox="1">
            <a:spLocks/>
          </p:cNvSpPr>
          <p:nvPr/>
        </p:nvSpPr>
        <p:spPr>
          <a:xfrm>
            <a:off x="5724812" y="-1"/>
            <a:ext cx="5791198" cy="106799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6600" b="1" dirty="0">
                <a:solidFill>
                  <a:schemeClr val="bg1"/>
                </a:solidFill>
                <a:latin typeface="Bahnschrift Condensed" panose="020B0502040204020203" pitchFamily="34" charset="0"/>
                <a:cs typeface="Arial" panose="020B0604020202020204" pitchFamily="34" charset="0"/>
              </a:rPr>
              <a:t>Цель</a:t>
            </a:r>
            <a:endParaRPr lang="en-US" sz="6600" b="1" dirty="0">
              <a:solidFill>
                <a:schemeClr val="bg1"/>
              </a:solidFill>
              <a:latin typeface="Bahnschrift Condensed" panose="020B0502040204020203" pitchFamily="34" charset="0"/>
              <a:cs typeface="Arial" panose="020B0604020202020204" pitchFamily="34" charset="0"/>
            </a:endParaRPr>
          </a:p>
        </p:txBody>
      </p:sp>
      <p:pic>
        <p:nvPicPr>
          <p:cNvPr id="5" name="Рисунок 4" descr="Изображение выглядит как одежда, человек, Человеческое лицо, в помещении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C81C11F4-F1B5-C05E-D21F-1B4DF284D2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1"/>
            <a:ext cx="5115208" cy="685800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8E32447-02E1-EED9-D3C1-BFFF79179888}"/>
              </a:ext>
            </a:extLst>
          </p:cNvPr>
          <p:cNvSpPr txBox="1"/>
          <p:nvPr/>
        </p:nvSpPr>
        <p:spPr>
          <a:xfrm>
            <a:off x="5242879" y="1704773"/>
            <a:ext cx="6755064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4800" dirty="0">
                <a:solidFill>
                  <a:schemeClr val="bg1"/>
                </a:solidFill>
                <a:latin typeface="Bahnschrift Condensed" panose="020B0502040204020203" pitchFamily="34" charset="0"/>
              </a:rPr>
              <a:t>Требуется разработать веб-сайт для подачи заявок на мероприятия службы занятости.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9306D31-55A7-7434-0C92-AB21190D91F4}"/>
              </a:ext>
            </a:extLst>
          </p:cNvPr>
          <p:cNvSpPr txBox="1"/>
          <p:nvPr/>
        </p:nvSpPr>
        <p:spPr>
          <a:xfrm>
            <a:off x="9216428" y="5941714"/>
            <a:ext cx="85177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4400" b="1" dirty="0">
                <a:solidFill>
                  <a:schemeClr val="bg1"/>
                </a:solidFill>
                <a:latin typeface="Bahnschrift Condensed" panose="020B0502040204020203" pitchFamily="34" charset="0"/>
              </a:rPr>
              <a:t>4</a:t>
            </a:r>
            <a:r>
              <a:rPr lang="ru-RU" sz="4400" b="1" i="0" dirty="0">
                <a:solidFill>
                  <a:schemeClr val="bg1"/>
                </a:solidFill>
                <a:effectLst/>
                <a:latin typeface="Bahnschrift Condensed" panose="020B0502040204020203" pitchFamily="34" charset="0"/>
              </a:rPr>
              <a:t>/9</a:t>
            </a:r>
            <a:endParaRPr lang="ru-RU" sz="4400" dirty="0">
              <a:solidFill>
                <a:schemeClr val="bg1"/>
              </a:solidFill>
              <a:latin typeface="Bahnschrift Condensed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086337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51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F0940987-77A2-C250-7BE6-44DAC477B4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6451" y="4899657"/>
            <a:ext cx="1486937" cy="1811498"/>
          </a:xfrm>
          <a:prstGeom prst="rect">
            <a:avLst/>
          </a:prstGeom>
        </p:spPr>
      </p:pic>
      <p:sp>
        <p:nvSpPr>
          <p:cNvPr id="12" name="Подзаголовок 2"/>
          <p:cNvSpPr txBox="1">
            <a:spLocks/>
          </p:cNvSpPr>
          <p:nvPr/>
        </p:nvSpPr>
        <p:spPr>
          <a:xfrm>
            <a:off x="3200400" y="0"/>
            <a:ext cx="5791198" cy="106799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6600" b="1" dirty="0">
                <a:solidFill>
                  <a:schemeClr val="bg1"/>
                </a:solidFill>
                <a:latin typeface="Bahnschrift Condensed" panose="020B0502040204020203" pitchFamily="34" charset="0"/>
                <a:cs typeface="Arial" panose="020B0604020202020204" pitchFamily="34" charset="0"/>
              </a:rPr>
              <a:t>Задачи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947CDDC-9133-AA3E-FBD2-0C2A48967F00}"/>
              </a:ext>
            </a:extLst>
          </p:cNvPr>
          <p:cNvSpPr txBox="1"/>
          <p:nvPr/>
        </p:nvSpPr>
        <p:spPr>
          <a:xfrm>
            <a:off x="9281685" y="5941714"/>
            <a:ext cx="7865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4400" b="1" i="0" dirty="0">
                <a:solidFill>
                  <a:schemeClr val="bg1"/>
                </a:solidFill>
                <a:effectLst/>
                <a:latin typeface="Bahnschrift Condensed" panose="020B0502040204020203" pitchFamily="34" charset="0"/>
              </a:rPr>
              <a:t>5/9</a:t>
            </a:r>
            <a:endParaRPr lang="ru-RU" sz="4400" dirty="0">
              <a:solidFill>
                <a:schemeClr val="bg1"/>
              </a:solidFill>
              <a:latin typeface="Bahnschrift Condensed" panose="020B0502040204020203" pitchFamily="34" charset="0"/>
            </a:endParaRPr>
          </a:p>
        </p:txBody>
      </p:sp>
      <p:pic>
        <p:nvPicPr>
          <p:cNvPr id="6" name="Рисунок 5" descr="Изображение выглядит как текст, Графика, Шрифт, дизайн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3F4F02DB-977A-5009-821E-23560F6EA93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7886" y="1512839"/>
            <a:ext cx="700134" cy="70013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E4397DA-48B2-F0BB-5FC5-1BD1100B2489}"/>
              </a:ext>
            </a:extLst>
          </p:cNvPr>
          <p:cNvSpPr txBox="1"/>
          <p:nvPr/>
        </p:nvSpPr>
        <p:spPr>
          <a:xfrm>
            <a:off x="1548871" y="1512839"/>
            <a:ext cx="454712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600" dirty="0">
                <a:solidFill>
                  <a:schemeClr val="bg1"/>
                </a:solidFill>
                <a:latin typeface="Bahnschrift Condensed" panose="020B0502040204020203" pitchFamily="34" charset="0"/>
              </a:rPr>
              <a:t>Сбор и анализ требований</a:t>
            </a:r>
          </a:p>
        </p:txBody>
      </p:sp>
      <p:pic>
        <p:nvPicPr>
          <p:cNvPr id="11" name="Рисунок 10" descr="Изображение выглядит как символ, логотип, Шрифт, белый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E9C53B4F-395C-12A8-5805-21F292A45F3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58020" y="2957088"/>
            <a:ext cx="700132" cy="700132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93183927-51E5-11E5-19AF-95D209876CA3}"/>
              </a:ext>
            </a:extLst>
          </p:cNvPr>
          <p:cNvSpPr txBox="1"/>
          <p:nvPr/>
        </p:nvSpPr>
        <p:spPr>
          <a:xfrm>
            <a:off x="2307418" y="2706990"/>
            <a:ext cx="668418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600" dirty="0">
                <a:solidFill>
                  <a:schemeClr val="bg1"/>
                </a:solidFill>
                <a:latin typeface="Bahnschrift Condensed" panose="020B0502040204020203" pitchFamily="34" charset="0"/>
              </a:rPr>
              <a:t>Проектирование архитектуры приложения и структуры базы данных</a:t>
            </a:r>
          </a:p>
        </p:txBody>
      </p:sp>
      <p:pic>
        <p:nvPicPr>
          <p:cNvPr id="15" name="Рисунок 14" descr="Изображение выглядит как символ, Шрифт, логотип, Графика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E29D7311-7AF1-A680-EAEB-34B715BE019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58152" y="4455139"/>
            <a:ext cx="812698" cy="812698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2FBBA03F-B43A-3186-30EC-DFEB6FC46705}"/>
              </a:ext>
            </a:extLst>
          </p:cNvPr>
          <p:cNvSpPr txBox="1"/>
          <p:nvPr/>
        </p:nvSpPr>
        <p:spPr>
          <a:xfrm>
            <a:off x="3062969" y="4299492"/>
            <a:ext cx="4822599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600" dirty="0">
                <a:solidFill>
                  <a:schemeClr val="bg1"/>
                </a:solidFill>
                <a:latin typeface="Bahnschrift Condensed" panose="020B0502040204020203" pitchFamily="34" charset="0"/>
              </a:rPr>
              <a:t>Разработка веб-интерфейса и бизнес-логики</a:t>
            </a:r>
          </a:p>
        </p:txBody>
      </p:sp>
    </p:spTree>
    <p:extLst>
      <p:ext uri="{BB962C8B-B14F-4D97-AF65-F5344CB8AC3E}">
        <p14:creationId xmlns:p14="http://schemas.microsoft.com/office/powerpoint/2010/main" val="188985159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69B3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76451" y="4899658"/>
            <a:ext cx="1486937" cy="1811498"/>
          </a:xfrm>
          <a:prstGeom prst="rect">
            <a:avLst/>
          </a:prstGeom>
        </p:spPr>
      </p:pic>
      <p:sp>
        <p:nvSpPr>
          <p:cNvPr id="12" name="Подзаголовок 2"/>
          <p:cNvSpPr txBox="1">
            <a:spLocks/>
          </p:cNvSpPr>
          <p:nvPr/>
        </p:nvSpPr>
        <p:spPr>
          <a:xfrm>
            <a:off x="2809875" y="0"/>
            <a:ext cx="6572248" cy="106799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6600" b="1" dirty="0">
                <a:solidFill>
                  <a:srgbClr val="0032A0"/>
                </a:solidFill>
                <a:latin typeface="Bahnschrift Condensed" panose="020B0502040204020203" pitchFamily="34" charset="0"/>
                <a:cs typeface="Arial" panose="020B0604020202020204" pitchFamily="34" charset="0"/>
              </a:rPr>
              <a:t>Средства разработки</a:t>
            </a:r>
            <a:endParaRPr lang="en-US" sz="6600" b="1" dirty="0">
              <a:solidFill>
                <a:srgbClr val="0032A0"/>
              </a:solidFill>
              <a:latin typeface="Bahnschrift Condensed" panose="020B0502040204020203" pitchFamily="34" charset="0"/>
              <a:cs typeface="Arial" panose="020B0604020202020204" pitchFamily="34" charset="0"/>
            </a:endParaRPr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13134" y="1245968"/>
            <a:ext cx="2630090" cy="2630090"/>
          </a:xfrm>
          <a:prstGeom prst="rect">
            <a:avLst/>
          </a:prstGeom>
        </p:spPr>
      </p:pic>
      <p:pic>
        <p:nvPicPr>
          <p:cNvPr id="5" name="Рисунок 4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63544" y="1489075"/>
            <a:ext cx="2220079" cy="2220076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12741" y="3851823"/>
            <a:ext cx="1627110" cy="1627107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95473" y="3280471"/>
            <a:ext cx="2066927" cy="2198459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99087" y="3709151"/>
            <a:ext cx="1490815" cy="149081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88ACB55-2EE8-44E8-BE5C-F3BF3C39D5D3}"/>
              </a:ext>
            </a:extLst>
          </p:cNvPr>
          <p:cNvSpPr txBox="1"/>
          <p:nvPr/>
        </p:nvSpPr>
        <p:spPr>
          <a:xfrm>
            <a:off x="9281685" y="5941714"/>
            <a:ext cx="7865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4400" b="1" dirty="0">
                <a:solidFill>
                  <a:srgbClr val="0032A0"/>
                </a:solidFill>
                <a:latin typeface="Bahnschrift Condensed" panose="020B0502040204020203" pitchFamily="34" charset="0"/>
              </a:rPr>
              <a:t>6</a:t>
            </a:r>
            <a:r>
              <a:rPr lang="ru-RU" sz="4400" b="1" i="0" dirty="0">
                <a:solidFill>
                  <a:srgbClr val="0032A0"/>
                </a:solidFill>
                <a:effectLst/>
                <a:latin typeface="Bahnschrift Condensed" panose="020B0502040204020203" pitchFamily="34" charset="0"/>
              </a:rPr>
              <a:t>/9</a:t>
            </a:r>
            <a:endParaRPr lang="ru-RU" sz="4400" dirty="0">
              <a:solidFill>
                <a:srgbClr val="0032A0"/>
              </a:solidFill>
              <a:latin typeface="Bahnschrift Condensed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288896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51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6451" y="4899657"/>
            <a:ext cx="1486937" cy="1811498"/>
          </a:xfrm>
          <a:prstGeom prst="rect">
            <a:avLst/>
          </a:prstGeom>
        </p:spPr>
      </p:pic>
      <p:sp>
        <p:nvSpPr>
          <p:cNvPr id="9" name="Подзаголовок 2"/>
          <p:cNvSpPr txBox="1">
            <a:spLocks/>
          </p:cNvSpPr>
          <p:nvPr/>
        </p:nvSpPr>
        <p:spPr>
          <a:xfrm>
            <a:off x="2809875" y="0"/>
            <a:ext cx="6572248" cy="106799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6600" b="1" dirty="0">
                <a:solidFill>
                  <a:schemeClr val="bg1"/>
                </a:solidFill>
                <a:latin typeface="Bahnschrift Condensed" panose="020B0502040204020203" pitchFamily="34" charset="0"/>
                <a:cs typeface="Arial" panose="020B0604020202020204" pitchFamily="34" charset="0"/>
              </a:rPr>
              <a:t>Архитектура системы</a:t>
            </a:r>
            <a:endParaRPr lang="en-US" sz="6600" b="1" dirty="0">
              <a:solidFill>
                <a:schemeClr val="bg1"/>
              </a:solidFill>
              <a:latin typeface="Bahnschrift Condensed" panose="020B0502040204020203" pitchFamily="34" charset="0"/>
              <a:cs typeface="Arial" panose="020B0604020202020204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D06280C-2AAF-56B0-C363-13692E08D377}"/>
              </a:ext>
            </a:extLst>
          </p:cNvPr>
          <p:cNvSpPr txBox="1"/>
          <p:nvPr/>
        </p:nvSpPr>
        <p:spPr>
          <a:xfrm>
            <a:off x="9281685" y="5941714"/>
            <a:ext cx="7865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4400" b="1" dirty="0">
                <a:solidFill>
                  <a:schemeClr val="bg1"/>
                </a:solidFill>
                <a:latin typeface="Bahnschrift Condensed" panose="020B0502040204020203" pitchFamily="34" charset="0"/>
              </a:rPr>
              <a:t>7</a:t>
            </a:r>
            <a:r>
              <a:rPr lang="ru-RU" sz="4400" b="1" i="0" dirty="0">
                <a:solidFill>
                  <a:schemeClr val="bg1"/>
                </a:solidFill>
                <a:effectLst/>
                <a:latin typeface="Bahnschrift Condensed" panose="020B0502040204020203" pitchFamily="34" charset="0"/>
              </a:rPr>
              <a:t>/9</a:t>
            </a:r>
            <a:endParaRPr lang="ru-RU" sz="4400" dirty="0">
              <a:solidFill>
                <a:schemeClr val="bg1"/>
              </a:solidFill>
              <a:latin typeface="Bahnschrift Condensed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9682413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69B3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00F32E89-421D-3783-354A-1F7A82EA00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6451" y="4899658"/>
            <a:ext cx="1486937" cy="1811498"/>
          </a:xfrm>
          <a:prstGeom prst="rect">
            <a:avLst/>
          </a:prstGeom>
        </p:spPr>
      </p:pic>
      <p:sp>
        <p:nvSpPr>
          <p:cNvPr id="9" name="Подзаголовок 2"/>
          <p:cNvSpPr txBox="1">
            <a:spLocks/>
          </p:cNvSpPr>
          <p:nvPr/>
        </p:nvSpPr>
        <p:spPr>
          <a:xfrm>
            <a:off x="1562100" y="0"/>
            <a:ext cx="9067798" cy="106799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6000" b="1" dirty="0">
                <a:solidFill>
                  <a:srgbClr val="0032A0"/>
                </a:solidFill>
                <a:latin typeface="Bahnschrift Condensed" panose="020B0502040204020203" pitchFamily="34" charset="0"/>
                <a:cs typeface="Arial" panose="020B0604020202020204" pitchFamily="34" charset="0"/>
              </a:rPr>
              <a:t>Преимущества разработанного ПО</a:t>
            </a:r>
            <a:endParaRPr lang="en-US" sz="6000" b="1" dirty="0">
              <a:solidFill>
                <a:srgbClr val="0032A0"/>
              </a:solidFill>
              <a:latin typeface="Bahnschrift Condensed" panose="020B0502040204020203" pitchFamily="34" charset="0"/>
              <a:cs typeface="Arial" panose="020B0604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EE5FF4-6907-7C5E-76E5-4634B49D09E4}"/>
              </a:ext>
            </a:extLst>
          </p:cNvPr>
          <p:cNvSpPr txBox="1"/>
          <p:nvPr/>
        </p:nvSpPr>
        <p:spPr>
          <a:xfrm>
            <a:off x="9281685" y="5941714"/>
            <a:ext cx="7865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4400" b="1" dirty="0">
                <a:solidFill>
                  <a:srgbClr val="0032A0"/>
                </a:solidFill>
                <a:latin typeface="Bahnschrift Condensed" panose="020B0502040204020203" pitchFamily="34" charset="0"/>
              </a:rPr>
              <a:t>8</a:t>
            </a:r>
            <a:r>
              <a:rPr lang="ru-RU" sz="4400" b="1" i="0" dirty="0">
                <a:solidFill>
                  <a:srgbClr val="0032A0"/>
                </a:solidFill>
                <a:effectLst/>
                <a:latin typeface="Bahnschrift Condensed" panose="020B0502040204020203" pitchFamily="34" charset="0"/>
              </a:rPr>
              <a:t>/9</a:t>
            </a:r>
            <a:endParaRPr lang="ru-RU" sz="4400" dirty="0">
              <a:solidFill>
                <a:srgbClr val="0032A0"/>
              </a:solidFill>
              <a:latin typeface="Bahnschrift Condensed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6E750BA-90A8-BEE1-AF70-5F27EAD4EFC1}"/>
              </a:ext>
            </a:extLst>
          </p:cNvPr>
          <p:cNvSpPr txBox="1"/>
          <p:nvPr/>
        </p:nvSpPr>
        <p:spPr>
          <a:xfrm>
            <a:off x="2512714" y="1470629"/>
            <a:ext cx="467867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4400" dirty="0">
                <a:solidFill>
                  <a:srgbClr val="0032A0"/>
                </a:solidFill>
                <a:latin typeface="Bahnschrift Condensed" panose="020B0502040204020203" pitchFamily="34" charset="0"/>
              </a:rPr>
              <a:t>Удобство и доступность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022F660-66E2-C665-A74C-556BC70D47A4}"/>
              </a:ext>
            </a:extLst>
          </p:cNvPr>
          <p:cNvSpPr txBox="1"/>
          <p:nvPr/>
        </p:nvSpPr>
        <p:spPr>
          <a:xfrm>
            <a:off x="2579369" y="2816642"/>
            <a:ext cx="703326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4400" dirty="0">
                <a:solidFill>
                  <a:srgbClr val="0032A0"/>
                </a:solidFill>
                <a:latin typeface="Bahnschrift Condensed" panose="020B0502040204020203" pitchFamily="34" charset="0"/>
              </a:rPr>
              <a:t>Упрощение процесса подачи заявок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2E3C8B9-5E86-F8A0-0640-B463E00538C7}"/>
              </a:ext>
            </a:extLst>
          </p:cNvPr>
          <p:cNvSpPr txBox="1"/>
          <p:nvPr/>
        </p:nvSpPr>
        <p:spPr>
          <a:xfrm>
            <a:off x="2579369" y="4162656"/>
            <a:ext cx="703326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4400" dirty="0">
                <a:solidFill>
                  <a:srgbClr val="0032A0"/>
                </a:solidFill>
                <a:latin typeface="Bahnschrift Condensed" panose="020B0502040204020203" pitchFamily="34" charset="0"/>
              </a:rPr>
              <a:t>Экономия времени и ресурсов</a:t>
            </a:r>
          </a:p>
        </p:txBody>
      </p:sp>
      <p:pic>
        <p:nvPicPr>
          <p:cNvPr id="10" name="Рисунок 9" descr="Изображение выглядит как Графика, графическая вставка, Красочность, символ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968066F5-7648-7171-D10E-692809F9C2A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4031" y="1368152"/>
            <a:ext cx="974394" cy="974394"/>
          </a:xfrm>
          <a:prstGeom prst="rect">
            <a:avLst/>
          </a:prstGeom>
        </p:spPr>
      </p:pic>
      <p:pic>
        <p:nvPicPr>
          <p:cNvPr id="14" name="Рисунок 13" descr="Изображение выглядит как символ, Графика, круг, Шрифт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793D160D-45DE-BBC6-E4BB-C7278BC3AA4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4030" y="2714167"/>
            <a:ext cx="974394" cy="974392"/>
          </a:xfrm>
          <a:prstGeom prst="rect">
            <a:avLst/>
          </a:prstGeom>
        </p:spPr>
      </p:pic>
      <p:pic>
        <p:nvPicPr>
          <p:cNvPr id="16" name="Рисунок 15" descr="Изображение выглядит как символ, Графика, круг, Шрифт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9699E091-2BAF-6083-35CA-CA45182CF74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4031" y="4060181"/>
            <a:ext cx="974393" cy="9743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431031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69B3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CE2D2F4E-6AA7-C060-8588-8E54391BDE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6451" y="4899658"/>
            <a:ext cx="1486937" cy="1811498"/>
          </a:xfrm>
          <a:prstGeom prst="rect">
            <a:avLst/>
          </a:prstGeom>
        </p:spPr>
      </p:pic>
      <p:sp>
        <p:nvSpPr>
          <p:cNvPr id="9" name="Подзаголовок 2"/>
          <p:cNvSpPr txBox="1">
            <a:spLocks/>
          </p:cNvSpPr>
          <p:nvPr/>
        </p:nvSpPr>
        <p:spPr>
          <a:xfrm>
            <a:off x="4181475" y="0"/>
            <a:ext cx="3829048" cy="106799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6000" b="1" dirty="0">
                <a:solidFill>
                  <a:srgbClr val="0032A0"/>
                </a:solidFill>
                <a:latin typeface="Bahnschrift Condensed" panose="020B0502040204020203" pitchFamily="34" charset="0"/>
                <a:cs typeface="Arial" panose="020B0604020202020204" pitchFamily="34" charset="0"/>
              </a:rPr>
              <a:t>Заключение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02DC4B8-3BAA-3881-10A7-5FDFA2F31E27}"/>
              </a:ext>
            </a:extLst>
          </p:cNvPr>
          <p:cNvSpPr txBox="1"/>
          <p:nvPr/>
        </p:nvSpPr>
        <p:spPr>
          <a:xfrm>
            <a:off x="9281685" y="5941714"/>
            <a:ext cx="7865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4400" b="1" dirty="0">
                <a:solidFill>
                  <a:srgbClr val="0032A0"/>
                </a:solidFill>
                <a:latin typeface="Bahnschrift Condensed" panose="020B0502040204020203" pitchFamily="34" charset="0"/>
              </a:rPr>
              <a:t>9</a:t>
            </a:r>
            <a:r>
              <a:rPr lang="ru-RU" sz="4400" b="1" i="0" dirty="0">
                <a:solidFill>
                  <a:srgbClr val="0032A0"/>
                </a:solidFill>
                <a:effectLst/>
                <a:latin typeface="Bahnschrift Condensed" panose="020B0502040204020203" pitchFamily="34" charset="0"/>
              </a:rPr>
              <a:t>/9</a:t>
            </a:r>
            <a:endParaRPr lang="ru-RU" sz="4400" dirty="0">
              <a:solidFill>
                <a:srgbClr val="0032A0"/>
              </a:solidFill>
              <a:latin typeface="Bahnschrift Condensed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B8C54E7-0900-11F9-E9E7-739E2C2A8EEE}"/>
              </a:ext>
            </a:extLst>
          </p:cNvPr>
          <p:cNvSpPr txBox="1"/>
          <p:nvPr/>
        </p:nvSpPr>
        <p:spPr>
          <a:xfrm>
            <a:off x="1016721" y="1421783"/>
            <a:ext cx="8914931" cy="3477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4400" dirty="0">
                <a:solidFill>
                  <a:srgbClr val="0032A0"/>
                </a:solidFill>
                <a:latin typeface="Bahnschrift Condensed" panose="020B0502040204020203" pitchFamily="34" charset="0"/>
              </a:rPr>
              <a:t>В ходе курсового проектирования был создан функциональный и удобный в использовании программный продукт, обеспечивающий пользователю простоту подачи заявок на мероприятия службы занятости.</a:t>
            </a:r>
          </a:p>
        </p:txBody>
      </p:sp>
    </p:spTree>
    <p:extLst>
      <p:ext uri="{BB962C8B-B14F-4D97-AF65-F5344CB8AC3E}">
        <p14:creationId xmlns:p14="http://schemas.microsoft.com/office/powerpoint/2010/main" val="259408229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32A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3999" y="0"/>
            <a:ext cx="9144000" cy="1800225"/>
          </a:xfrm>
        </p:spPr>
        <p:txBody>
          <a:bodyPr>
            <a:noAutofit/>
          </a:bodyPr>
          <a:lstStyle/>
          <a:p>
            <a:r>
              <a:rPr lang="ru-RU" sz="1400" b="1" dirty="0">
                <a:solidFill>
                  <a:schemeClr val="bg1"/>
                </a:solidFill>
                <a:latin typeface="Bahnschrift Condensed" panose="020B0502040204020203" pitchFamily="34" charset="0"/>
                <a:cs typeface="Arial" panose="020B0604020202020204" pitchFamily="34" charset="0"/>
              </a:rPr>
              <a:t>ФЕДЕРАЛЬНОЕ ГОСУДАРСТВЕННОЕ БЮДЖЕТНОЕ ОБРАЗОВАТЕЛЬНОЕ УЧРЕЖДЕНИЕ ВЫСШЕГО ОБРАЗОВАНИЯ </a:t>
            </a:r>
            <a:br>
              <a:rPr lang="en-US" sz="1400" b="1" dirty="0">
                <a:solidFill>
                  <a:schemeClr val="bg1"/>
                </a:solidFill>
                <a:latin typeface="Bahnschrift Condensed" panose="020B0502040204020203" pitchFamily="34" charset="0"/>
                <a:cs typeface="Arial" panose="020B0604020202020204" pitchFamily="34" charset="0"/>
              </a:rPr>
            </a:br>
            <a:r>
              <a:rPr lang="ru-RU" sz="1400" b="1" dirty="0">
                <a:solidFill>
                  <a:schemeClr val="bg1"/>
                </a:solidFill>
                <a:latin typeface="Bahnschrift Condensed" panose="020B0502040204020203" pitchFamily="34" charset="0"/>
                <a:cs typeface="Arial" panose="020B0604020202020204" pitchFamily="34" charset="0"/>
              </a:rPr>
              <a:t>«САНКТ-ПЕТЕРБУРГСКИЙ ГОСУДАРСТВЕННЫЙ УНИВЕРСИТЕТ </a:t>
            </a:r>
            <a:br>
              <a:rPr lang="en-US" sz="1400" b="1" dirty="0">
                <a:solidFill>
                  <a:schemeClr val="bg1"/>
                </a:solidFill>
                <a:latin typeface="Bahnschrift Condensed" panose="020B0502040204020203" pitchFamily="34" charset="0"/>
                <a:cs typeface="Arial" panose="020B0604020202020204" pitchFamily="34" charset="0"/>
              </a:rPr>
            </a:br>
            <a:r>
              <a:rPr lang="ru-RU" sz="1400" b="1" dirty="0">
                <a:solidFill>
                  <a:schemeClr val="bg1"/>
                </a:solidFill>
                <a:latin typeface="Bahnschrift Condensed" panose="020B0502040204020203" pitchFamily="34" charset="0"/>
                <a:cs typeface="Arial" panose="020B0604020202020204" pitchFamily="34" charset="0"/>
              </a:rPr>
              <a:t>ТЕЛЕКОММУНИКАЦИЙ ИМ. ПРОФ. М.А. БОНЧ-БРУЕВИЧА» </a:t>
            </a:r>
            <a:br>
              <a:rPr lang="en-US" sz="1400" b="1" dirty="0">
                <a:solidFill>
                  <a:schemeClr val="bg1"/>
                </a:solidFill>
                <a:latin typeface="Bahnschrift Condensed" panose="020B0502040204020203" pitchFamily="34" charset="0"/>
                <a:cs typeface="Arial" panose="020B0604020202020204" pitchFamily="34" charset="0"/>
              </a:rPr>
            </a:br>
            <a:r>
              <a:rPr lang="ru-RU" sz="1400" b="1" dirty="0">
                <a:solidFill>
                  <a:schemeClr val="bg1"/>
                </a:solidFill>
                <a:latin typeface="Bahnschrift Condensed" panose="020B0502040204020203" pitchFamily="34" charset="0"/>
                <a:cs typeface="Arial" panose="020B0604020202020204" pitchFamily="34" charset="0"/>
              </a:rPr>
              <a:t>(</a:t>
            </a:r>
            <a:r>
              <a:rPr lang="ru-RU" sz="1400" b="1" dirty="0" err="1">
                <a:solidFill>
                  <a:schemeClr val="bg1"/>
                </a:solidFill>
                <a:latin typeface="Bahnschrift Condensed" panose="020B0502040204020203" pitchFamily="34" charset="0"/>
                <a:cs typeface="Arial" panose="020B0604020202020204" pitchFamily="34" charset="0"/>
              </a:rPr>
              <a:t>СПбГУТ</a:t>
            </a:r>
            <a:r>
              <a:rPr lang="ru-RU" sz="1400" b="1" dirty="0">
                <a:solidFill>
                  <a:schemeClr val="bg1"/>
                </a:solidFill>
                <a:latin typeface="Bahnschrift Condensed" panose="020B0502040204020203" pitchFamily="34" charset="0"/>
                <a:cs typeface="Arial" panose="020B0604020202020204" pitchFamily="34" charset="0"/>
              </a:rPr>
              <a:t>) </a:t>
            </a:r>
            <a:br>
              <a:rPr lang="en-US" sz="1400" b="1" dirty="0">
                <a:solidFill>
                  <a:schemeClr val="bg1"/>
                </a:solidFill>
                <a:latin typeface="Bahnschrift Condensed" panose="020B0502040204020203" pitchFamily="34" charset="0"/>
                <a:cs typeface="Arial" panose="020B0604020202020204" pitchFamily="34" charset="0"/>
              </a:rPr>
            </a:br>
            <a:br>
              <a:rPr lang="en-US" sz="1400" b="1" dirty="0">
                <a:solidFill>
                  <a:schemeClr val="bg1"/>
                </a:solidFill>
                <a:latin typeface="Bahnschrift Condensed" panose="020B0502040204020203" pitchFamily="34" charset="0"/>
                <a:cs typeface="Arial" panose="020B0604020202020204" pitchFamily="34" charset="0"/>
              </a:rPr>
            </a:br>
            <a:r>
              <a:rPr lang="ru-RU" sz="1400" b="1" dirty="0">
                <a:solidFill>
                  <a:schemeClr val="bg1"/>
                </a:solidFill>
                <a:latin typeface="Bahnschrift Condensed" panose="020B0502040204020203" pitchFamily="34" charset="0"/>
                <a:cs typeface="Arial" panose="020B0604020202020204" pitchFamily="34" charset="0"/>
              </a:rPr>
              <a:t>АРХАНГЕЛЬСКИЙ КОЛЛЕДЖ ТЕЛЕКОММУНИКАЦИЙ </a:t>
            </a:r>
            <a:br>
              <a:rPr lang="en-US" sz="1400" b="1" dirty="0">
                <a:solidFill>
                  <a:schemeClr val="bg1"/>
                </a:solidFill>
                <a:latin typeface="Bahnschrift Condensed" panose="020B0502040204020203" pitchFamily="34" charset="0"/>
                <a:cs typeface="Arial" panose="020B0604020202020204" pitchFamily="34" charset="0"/>
              </a:rPr>
            </a:br>
            <a:r>
              <a:rPr lang="ru-RU" sz="1400" b="1" dirty="0">
                <a:solidFill>
                  <a:schemeClr val="bg1"/>
                </a:solidFill>
                <a:latin typeface="Bahnschrift Condensed" panose="020B0502040204020203" pitchFamily="34" charset="0"/>
                <a:cs typeface="Arial" panose="020B0604020202020204" pitchFamily="34" charset="0"/>
              </a:rPr>
              <a:t>ИМ. Б.Л. РОЗИНГА (ФИЛИАЛ) </a:t>
            </a:r>
            <a:r>
              <a:rPr lang="ru-RU" sz="1400" b="1" dirty="0" err="1">
                <a:solidFill>
                  <a:schemeClr val="bg1"/>
                </a:solidFill>
                <a:latin typeface="Bahnschrift Condensed" panose="020B0502040204020203" pitchFamily="34" charset="0"/>
                <a:cs typeface="Arial" panose="020B0604020202020204" pitchFamily="34" charset="0"/>
              </a:rPr>
              <a:t>СПбГУТ</a:t>
            </a:r>
            <a:r>
              <a:rPr lang="ru-RU" sz="1400" b="1" dirty="0">
                <a:solidFill>
                  <a:schemeClr val="bg1"/>
                </a:solidFill>
                <a:latin typeface="Bahnschrift Condensed" panose="020B0502040204020203" pitchFamily="34" charset="0"/>
                <a:cs typeface="Arial" panose="020B0604020202020204" pitchFamily="34" charset="0"/>
              </a:rPr>
              <a:t> </a:t>
            </a:r>
            <a:br>
              <a:rPr lang="en-US" sz="1400" b="1" dirty="0">
                <a:solidFill>
                  <a:schemeClr val="bg1"/>
                </a:solidFill>
                <a:latin typeface="Bahnschrift Condensed" panose="020B0502040204020203" pitchFamily="34" charset="0"/>
                <a:cs typeface="Arial" panose="020B0604020202020204" pitchFamily="34" charset="0"/>
              </a:rPr>
            </a:br>
            <a:r>
              <a:rPr lang="ru-RU" sz="1400" b="1" dirty="0">
                <a:solidFill>
                  <a:schemeClr val="bg1"/>
                </a:solidFill>
                <a:latin typeface="Bahnschrift Condensed" panose="020B0502040204020203" pitchFamily="34" charset="0"/>
                <a:cs typeface="Arial" panose="020B0604020202020204" pitchFamily="34" charset="0"/>
              </a:rPr>
              <a:t>(АКТ (ф) </a:t>
            </a:r>
            <a:r>
              <a:rPr lang="ru-RU" sz="1400" b="1" dirty="0" err="1">
                <a:solidFill>
                  <a:schemeClr val="bg1"/>
                </a:solidFill>
                <a:latin typeface="Bahnschrift Condensed" panose="020B0502040204020203" pitchFamily="34" charset="0"/>
                <a:cs typeface="Arial" panose="020B0604020202020204" pitchFamily="34" charset="0"/>
              </a:rPr>
              <a:t>СПбГУТ</a:t>
            </a:r>
            <a:r>
              <a:rPr lang="ru-RU" sz="1400" b="1" dirty="0">
                <a:solidFill>
                  <a:schemeClr val="bg1"/>
                </a:solidFill>
                <a:latin typeface="Bahnschrift Condensed" panose="020B0502040204020203" pitchFamily="34" charset="0"/>
                <a:cs typeface="Arial" panose="020B0604020202020204" pitchFamily="34" charset="0"/>
              </a:rPr>
              <a:t>) 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738186" y="3188295"/>
            <a:ext cx="6577014" cy="1336080"/>
          </a:xfrm>
        </p:spPr>
        <p:txBody>
          <a:bodyPr>
            <a:noAutofit/>
          </a:bodyPr>
          <a:lstStyle/>
          <a:p>
            <a:pPr algn="l">
              <a:lnSpc>
                <a:spcPct val="114000"/>
              </a:lnSpc>
            </a:pPr>
            <a:r>
              <a:rPr lang="ru-RU" sz="3600" dirty="0">
                <a:solidFill>
                  <a:schemeClr val="bg1"/>
                </a:solidFill>
                <a:latin typeface="Bahnschrift Condensed" panose="020B0502040204020203" pitchFamily="34" charset="0"/>
                <a:cs typeface="Arial" panose="020B0604020202020204" pitchFamily="34" charset="0"/>
              </a:rPr>
              <a:t>Разработка подсистемы подачи заявок на мероприятия службы занятости</a:t>
            </a:r>
          </a:p>
        </p:txBody>
      </p:sp>
      <p:sp>
        <p:nvSpPr>
          <p:cNvPr id="5" name="Подзаголовок 2"/>
          <p:cNvSpPr txBox="1">
            <a:spLocks/>
          </p:cNvSpPr>
          <p:nvPr/>
        </p:nvSpPr>
        <p:spPr>
          <a:xfrm>
            <a:off x="114300" y="4905871"/>
            <a:ext cx="3838575" cy="646112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ru-RU" sz="1600" dirty="0">
                <a:solidFill>
                  <a:schemeClr val="bg1"/>
                </a:solidFill>
                <a:latin typeface="Bahnschrift Condensed" panose="020B0502040204020203" pitchFamily="34" charset="0"/>
                <a:cs typeface="Arial" panose="020B0604020202020204" pitchFamily="34" charset="0"/>
              </a:rPr>
              <a:t>Студент группы ИСПП-</a:t>
            </a:r>
            <a:r>
              <a:rPr lang="en-US" sz="1600" dirty="0">
                <a:solidFill>
                  <a:schemeClr val="bg1"/>
                </a:solidFill>
                <a:latin typeface="Bahnschrift Condensed" panose="020B0502040204020203" pitchFamily="34" charset="0"/>
                <a:cs typeface="Arial" panose="020B0604020202020204" pitchFamily="34" charset="0"/>
              </a:rPr>
              <a:t>2</a:t>
            </a:r>
            <a:r>
              <a:rPr lang="ru-RU" sz="1600" dirty="0">
                <a:solidFill>
                  <a:schemeClr val="bg1"/>
                </a:solidFill>
                <a:latin typeface="Bahnschrift Condensed" panose="020B0502040204020203" pitchFamily="34" charset="0"/>
                <a:cs typeface="Arial" panose="020B0604020202020204" pitchFamily="34" charset="0"/>
              </a:rPr>
              <a:t>1: Поршнев Артём Николаевич</a:t>
            </a:r>
          </a:p>
          <a:p>
            <a:pPr algn="l"/>
            <a:r>
              <a:rPr lang="ru-RU" sz="1600" dirty="0">
                <a:solidFill>
                  <a:schemeClr val="bg1"/>
                </a:solidFill>
                <a:latin typeface="Bahnschrift Condensed" panose="020B0502040204020203" pitchFamily="34" charset="0"/>
                <a:cs typeface="Arial" panose="020B0604020202020204" pitchFamily="34" charset="0"/>
              </a:rPr>
              <a:t>Руководитель: </a:t>
            </a:r>
            <a:r>
              <a:rPr lang="ru-RU" sz="1600" dirty="0" err="1">
                <a:solidFill>
                  <a:schemeClr val="bg1"/>
                </a:solidFill>
                <a:latin typeface="Bahnschrift Condensed" panose="020B0502040204020203" pitchFamily="34" charset="0"/>
                <a:cs typeface="Arial" panose="020B0604020202020204" pitchFamily="34" charset="0"/>
              </a:rPr>
              <a:t>Маломан</a:t>
            </a:r>
            <a:r>
              <a:rPr lang="ru-RU" sz="1600" dirty="0">
                <a:solidFill>
                  <a:schemeClr val="bg1"/>
                </a:solidFill>
                <a:latin typeface="Bahnschrift Condensed" panose="020B0502040204020203" pitchFamily="34" charset="0"/>
                <a:cs typeface="Arial" panose="020B0604020202020204" pitchFamily="34" charset="0"/>
              </a:rPr>
              <a:t> Юлия Сергеевна</a:t>
            </a:r>
          </a:p>
        </p:txBody>
      </p:sp>
      <p:sp>
        <p:nvSpPr>
          <p:cNvPr id="6" name="Подзаголовок 2"/>
          <p:cNvSpPr txBox="1">
            <a:spLocks/>
          </p:cNvSpPr>
          <p:nvPr/>
        </p:nvSpPr>
        <p:spPr>
          <a:xfrm>
            <a:off x="5283993" y="6469063"/>
            <a:ext cx="1624013" cy="38893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1800" dirty="0">
                <a:solidFill>
                  <a:schemeClr val="bg1"/>
                </a:solidFill>
                <a:latin typeface="Bahnschrift Condensed" panose="020B0502040204020203" pitchFamily="34" charset="0"/>
                <a:cs typeface="Arial" panose="020B0604020202020204" pitchFamily="34" charset="0"/>
              </a:rPr>
              <a:t>Архангельск, 2025</a:t>
            </a:r>
          </a:p>
        </p:txBody>
      </p:sp>
      <p:sp>
        <p:nvSpPr>
          <p:cNvPr id="7" name="Подзаголовок 2"/>
          <p:cNvSpPr txBox="1">
            <a:spLocks/>
          </p:cNvSpPr>
          <p:nvPr/>
        </p:nvSpPr>
        <p:spPr>
          <a:xfrm>
            <a:off x="-1" y="1999060"/>
            <a:ext cx="5314951" cy="106799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6600" b="1" dirty="0">
                <a:solidFill>
                  <a:schemeClr val="bg1"/>
                </a:solidFill>
                <a:latin typeface="Bahnschrift Condensed" panose="020B0502040204020203" pitchFamily="34" charset="0"/>
                <a:cs typeface="Arial" panose="020B0604020202020204" pitchFamily="34" charset="0"/>
              </a:rPr>
              <a:t>Курсовой проект </a:t>
            </a:r>
            <a:endParaRPr lang="en-US" sz="6600" b="1" dirty="0">
              <a:solidFill>
                <a:schemeClr val="bg1"/>
              </a:solidFill>
              <a:latin typeface="Bahnschrift Condensed" panose="020B0502040204020203" pitchFamily="34" charset="0"/>
              <a:cs typeface="Arial" panose="020B0604020202020204" pitchFamily="34" charset="0"/>
            </a:endParaRPr>
          </a:p>
        </p:txBody>
      </p:sp>
      <p:pic>
        <p:nvPicPr>
          <p:cNvPr id="16" name="Рисунок 1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6451" y="4899658"/>
            <a:ext cx="1486937" cy="18114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7630166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240</TotalTime>
  <Words>271</Words>
  <Application>Microsoft Office PowerPoint</Application>
  <PresentationFormat>Широкоэкранный</PresentationFormat>
  <Paragraphs>44</Paragraphs>
  <Slides>10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10</vt:i4>
      </vt:variant>
    </vt:vector>
  </HeadingPairs>
  <TitlesOfParts>
    <vt:vector size="15" baseType="lpstr">
      <vt:lpstr>Arial</vt:lpstr>
      <vt:lpstr>Bahnschrift Condensed</vt:lpstr>
      <vt:lpstr>Calibri</vt:lpstr>
      <vt:lpstr>Calibri Light</vt:lpstr>
      <vt:lpstr>Тема Office</vt:lpstr>
      <vt:lpstr>ФЕДЕРАЛЬНОЕ ГОСУДАРСТВЕННОЕ БЮДЖЕТНОЕ ОБРАЗОВАТЕЛЬНОЕ УЧРЕЖДЕНИЕ ВЫСШЕГО ОБРАЗОВАНИЯ  «САНКТ-ПЕТЕРБУРГСКИЙ ГОСУДАРСТВЕННЫЙ УНИВЕРСИТЕТ  ТЕЛЕКОММУНИКАЦИЙ ИМ. ПРОФ. М.А. БОНЧ-БРУЕВИЧА»  (СПбГУТ)   АРХАНГЕЛЬСКИЙ КОЛЛЕДЖ ТЕЛЕКОММУНИКАЦИЙ  ИМ. Б.Л. РОЗИНГА (ФИЛИАЛ) СПбГУТ  (АКТ (ф) СПбГУТ) 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ФЕДЕРАЛЬНОЕ ГОСУДАРСТВЕННОЕ БЮДЖЕТНОЕ ОБРАЗОВАТЕЛЬНОЕ УЧРЕЖДЕНИЕ ВЫСШЕГО ОБРАЗОВАНИЯ  «САНКТ-ПЕТЕРБУРГСКИЙ ГОСУДАРСТВЕННЫЙ УНИВЕРСИТЕТ  ТЕЛЕКОММУНИКАЦИЙ ИМ. ПРОФ. М.А. БОНЧ-БРУЕВИЧА»  (СПбГУТ)   АРХАНГЕЛЬСКИЙ КОЛЛЕДЖ ТЕЛЕКОММУНИКАЦИЙ  ИМ. Б.Л. РОЗИНГА (ФИЛИАЛ) СПбГУТ  (АКТ (ф) СПбГУТ) </vt:lpstr>
    </vt:vector>
  </TitlesOfParts>
  <Company>АКТ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0109-13</dc:creator>
  <cp:lastModifiedBy>Артём Поршнев</cp:lastModifiedBy>
  <cp:revision>17</cp:revision>
  <dcterms:created xsi:type="dcterms:W3CDTF">2025-12-01T08:18:07Z</dcterms:created>
  <dcterms:modified xsi:type="dcterms:W3CDTF">2025-12-10T19:28:31Z</dcterms:modified>
</cp:coreProperties>
</file>